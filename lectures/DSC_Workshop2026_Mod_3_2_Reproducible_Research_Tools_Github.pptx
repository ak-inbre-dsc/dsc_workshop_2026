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8" r:id="rId3"/>
    <p:sldId id="259" r:id="rId4"/>
    <p:sldId id="260" r:id="rId5"/>
    <p:sldId id="276" r:id="rId6"/>
    <p:sldId id="262" r:id="rId7"/>
    <p:sldId id="263" r:id="rId8"/>
    <p:sldId id="297" r:id="rId9"/>
    <p:sldId id="305" r:id="rId10"/>
    <p:sldId id="264" r:id="rId11"/>
    <p:sldId id="265" r:id="rId12"/>
    <p:sldId id="314" r:id="rId13"/>
    <p:sldId id="313" r:id="rId14"/>
    <p:sldId id="316" r:id="rId15"/>
    <p:sldId id="267" r:id="rId16"/>
    <p:sldId id="266" r:id="rId17"/>
    <p:sldId id="317" r:id="rId18"/>
  </p:sldIdLst>
  <p:sldSz cx="12192000" cy="6858000"/>
  <p:notesSz cx="6858000" cy="9144000"/>
  <p:embeddedFontLst>
    <p:embeddedFont>
      <p:font typeface="Lato" panose="020F0502020204030203" pitchFamily="34" charset="0"/>
      <p:regular r:id="rId20"/>
      <p:bold r:id="rId21"/>
      <p:italic r:id="rId22"/>
      <p:boldItalic r:id="rId23"/>
    </p:embeddedFont>
    <p:embeddedFont>
      <p:font typeface="Poppins" pitchFamily="2" charset="77"/>
      <p:regular r:id="rId24"/>
      <p:bold r:id="rId25"/>
      <p:italic r:id="rId26"/>
      <p:boldItalic r:id="rId27"/>
    </p:embeddedFont>
    <p:embeddedFont>
      <p:font typeface="Poppins SemiBold" panose="0000070000000000000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63EC"/>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76"/>
    <p:restoredTop sz="94110"/>
  </p:normalViewPr>
  <p:slideViewPr>
    <p:cSldViewPr snapToGrid="0">
      <p:cViewPr varScale="1">
        <p:scale>
          <a:sx n="115" d="100"/>
          <a:sy n="115" d="100"/>
        </p:scale>
        <p:origin x="528" y="192"/>
      </p:cViewPr>
      <p:guideLst>
        <p:guide orient="horz" pos="2160"/>
        <p:guide pos="2880"/>
      </p:guideLst>
    </p:cSldViewPr>
  </p:slideViewPr>
  <p:notesTextViewPr>
    <p:cViewPr>
      <p:scale>
        <a:sx n="1" d="1"/>
        <a:sy n="1" d="1"/>
      </p:scale>
      <p:origin x="0" y="0"/>
    </p:cViewPr>
  </p:notesTextViewPr>
  <p:notesViewPr>
    <p:cSldViewPr snapToGrid="0">
      <p:cViewPr varScale="1">
        <p:scale>
          <a:sx n="96" d="100"/>
          <a:sy n="96" d="100"/>
        </p:scale>
        <p:origin x="2768"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1" i="0" u="none" strike="noStrike" cap="none" dirty="0">
                <a:solidFill>
                  <a:srgbClr val="475569"/>
                </a:solidFill>
                <a:latin typeface="Lato"/>
                <a:ea typeface="Lato"/>
                <a:cs typeface="Lato"/>
                <a:sym typeface="Lato"/>
              </a:rPr>
              <a:t>Reduce Manual Errors:</a:t>
            </a:r>
            <a:r>
              <a:rPr lang="en-US" sz="1100" b="0" i="0" u="none" strike="noStrike" cap="none" dirty="0">
                <a:solidFill>
                  <a:srgbClr val="475569"/>
                </a:solidFill>
                <a:latin typeface="Lato"/>
                <a:ea typeface="Lato"/>
                <a:cs typeface="Lato"/>
                <a:sym typeface="Lato"/>
              </a:rPr>
              <a:t> Eliminates human mistakes during command entry and file handling.</a:t>
            </a:r>
            <a:endParaRPr dirty="0"/>
          </a:p>
        </p:txBody>
      </p:sp>
      <p:sp>
        <p:nvSpPr>
          <p:cNvPr id="131" name="Google Shape;13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One of the many metagenomic pipelines</a:t>
            </a:r>
          </a:p>
          <a:p>
            <a:endParaRPr lang="en-US" dirty="0"/>
          </a:p>
          <a:p>
            <a:r>
              <a:rPr lang="en-US" dirty="0"/>
              <a:t>You have run a metagenomics pipeline yesterday. These usually consist of a combination of steps.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These pipelines contain different programs.  All of which have  different versions,  dependencies et. Do you want to set and download all these manually  every time you run the analysis? Room for error!</a:t>
            </a:r>
            <a:endParaRPr lang="en-US" dirty="0"/>
          </a:p>
          <a:p>
            <a:endParaRPr lang="en-US" dirty="0"/>
          </a:p>
        </p:txBody>
      </p:sp>
      <p:sp>
        <p:nvSpPr>
          <p:cNvPr id="4" name="Slide Number Placeholder 3"/>
          <p:cNvSpPr>
            <a:spLocks noGrp="1"/>
          </p:cNvSpPr>
          <p:nvPr>
            <p:ph type="sldNum" sz="quarter" idx="5"/>
          </p:nvPr>
        </p:nvSpPr>
        <p:spPr/>
        <p:txBody>
          <a:bodyPr/>
          <a:lstStyle/>
          <a:p>
            <a:fld id="{93508EC1-5060-8E4F-9A50-40CBCAD460C0}" type="slidenum">
              <a:rPr lang="en-US" smtClean="0"/>
              <a:t>5</a:t>
            </a:fld>
            <a:endParaRPr lang="en-US"/>
          </a:p>
        </p:txBody>
      </p:sp>
    </p:spTree>
    <p:extLst>
      <p:ext uri="{BB962C8B-B14F-4D97-AF65-F5344CB8AC3E}">
        <p14:creationId xmlns:p14="http://schemas.microsoft.com/office/powerpoint/2010/main" val="844067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Can include part of pipeline (single program to small pipeline or script)</a:t>
            </a:r>
          </a:p>
        </p:txBody>
      </p:sp>
      <p:sp>
        <p:nvSpPr>
          <p:cNvPr id="4" name="Slide Number Placeholder 3"/>
          <p:cNvSpPr>
            <a:spLocks noGrp="1"/>
          </p:cNvSpPr>
          <p:nvPr>
            <p:ph type="sldNum" sz="quarter" idx="5"/>
          </p:nvPr>
        </p:nvSpPr>
        <p:spPr/>
        <p:txBody>
          <a:bodyPr/>
          <a:lstStyle/>
          <a:p>
            <a:fld id="{93508EC1-5060-8E4F-9A50-40CBCAD460C0}" type="slidenum">
              <a:rPr lang="en-US" smtClean="0"/>
              <a:t>8</a:t>
            </a:fld>
            <a:endParaRPr lang="en-US"/>
          </a:p>
        </p:txBody>
      </p:sp>
    </p:spTree>
    <p:extLst>
      <p:ext uri="{BB962C8B-B14F-4D97-AF65-F5344CB8AC3E}">
        <p14:creationId xmlns:p14="http://schemas.microsoft.com/office/powerpoint/2010/main" val="276194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0" name="Google Shape;18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3" name="Google Shape;21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1114552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1114552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6" name="Google Shape;86;p13"/>
          <p:cNvSpPr txBox="1"/>
          <p:nvPr/>
        </p:nvSpPr>
        <p:spPr>
          <a:xfrm>
            <a:off x="571500" y="2856011"/>
            <a:ext cx="11601450" cy="1340941"/>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4800" b="1" i="0" u="none" strike="noStrike" cap="none" dirty="0">
                <a:solidFill>
                  <a:srgbClr val="1E293B"/>
                </a:solidFill>
                <a:latin typeface="Poppins"/>
                <a:ea typeface="Poppins"/>
                <a:cs typeface="Poppins"/>
                <a:sym typeface="Poppins"/>
              </a:rPr>
              <a:t>Essential Tools for</a:t>
            </a:r>
            <a:br>
              <a:rPr lang="en-US" sz="1800" b="0" i="0" u="none" strike="noStrike" cap="none" dirty="0">
                <a:solidFill>
                  <a:schemeClr val="dk1"/>
                </a:solidFill>
                <a:latin typeface="Calibri"/>
                <a:ea typeface="Calibri"/>
                <a:cs typeface="Calibri"/>
                <a:sym typeface="Calibri"/>
              </a:rPr>
            </a:br>
            <a:r>
              <a:rPr lang="en-US" sz="4800" b="1" i="0" u="none" strike="noStrike" cap="none" dirty="0">
                <a:solidFill>
                  <a:srgbClr val="1E293B"/>
                </a:solidFill>
                <a:latin typeface="Poppins"/>
                <a:ea typeface="Poppins"/>
                <a:cs typeface="Poppins"/>
                <a:sym typeface="Poppins"/>
              </a:rPr>
              <a:t> Reproducible Research</a:t>
            </a:r>
            <a:endParaRPr dirty="0"/>
          </a:p>
        </p:txBody>
      </p:sp>
      <p:sp>
        <p:nvSpPr>
          <p:cNvPr id="87" name="Google Shape;87;p13"/>
          <p:cNvSpPr txBox="1"/>
          <p:nvPr/>
        </p:nvSpPr>
        <p:spPr>
          <a:xfrm>
            <a:off x="571500" y="4387453"/>
            <a:ext cx="11049000" cy="34662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64748B"/>
                </a:solidFill>
                <a:latin typeface="Lato"/>
                <a:ea typeface="Lato"/>
                <a:cs typeface="Lato"/>
                <a:sym typeface="Lato"/>
              </a:rPr>
              <a:t>Pipelines, Workflow Management Systems &amp; Containers</a:t>
            </a:r>
            <a:endParaRPr/>
          </a:p>
        </p:txBody>
      </p:sp>
      <p:sp>
        <p:nvSpPr>
          <p:cNvPr id="88" name="Google Shape;88;p13"/>
          <p:cNvSpPr/>
          <p:nvPr/>
        </p:nvSpPr>
        <p:spPr>
          <a:xfrm>
            <a:off x="571500" y="5115073"/>
            <a:ext cx="1143000" cy="571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0"/>
        <p:cNvGrpSpPr/>
        <p:nvPr/>
      </p:nvGrpSpPr>
      <p:grpSpPr>
        <a:xfrm>
          <a:off x="0" y="0"/>
          <a:ext cx="0" cy="0"/>
          <a:chOff x="0" y="0"/>
          <a:chExt cx="0" cy="0"/>
        </a:xfrm>
      </p:grpSpPr>
      <p:pic>
        <p:nvPicPr>
          <p:cNvPr id="101" name="Google Shape;101;p15" descr="image.png"/>
          <p:cNvPicPr preferRelativeResize="0"/>
          <p:nvPr/>
        </p:nvPicPr>
        <p:blipFill rotWithShape="1">
          <a:blip r:embed="rId3">
            <a:alphaModFix/>
          </a:blip>
          <a:srcRect/>
          <a:stretch/>
        </p:blipFill>
        <p:spPr>
          <a:xfrm>
            <a:off x="0" y="258663"/>
            <a:ext cx="12192000" cy="6858000"/>
          </a:xfrm>
          <a:prstGeom prst="rect">
            <a:avLst/>
          </a:prstGeom>
          <a:noFill/>
          <a:ln>
            <a:noFill/>
          </a:ln>
        </p:spPr>
      </p:pic>
      <p:pic>
        <p:nvPicPr>
          <p:cNvPr id="102" name="Google Shape;102;p15" descr="image.png"/>
          <p:cNvPicPr preferRelativeResize="0"/>
          <p:nvPr/>
        </p:nvPicPr>
        <p:blipFill rotWithShape="1">
          <a:blip r:embed="rId4">
            <a:alphaModFix/>
          </a:blip>
          <a:srcRect/>
          <a:stretch/>
        </p:blipFill>
        <p:spPr>
          <a:xfrm>
            <a:off x="571500" y="2535138"/>
            <a:ext cx="5286375" cy="3135510"/>
          </a:xfrm>
          <a:prstGeom prst="rect">
            <a:avLst/>
          </a:prstGeom>
          <a:noFill/>
          <a:ln>
            <a:noFill/>
          </a:ln>
        </p:spPr>
      </p:pic>
      <p:pic>
        <p:nvPicPr>
          <p:cNvPr id="103" name="Google Shape;103;p15" descr="image.png"/>
          <p:cNvPicPr preferRelativeResize="0"/>
          <p:nvPr/>
        </p:nvPicPr>
        <p:blipFill rotWithShape="1">
          <a:blip r:embed="rId4">
            <a:alphaModFix/>
          </a:blip>
          <a:srcRect/>
          <a:stretch/>
        </p:blipFill>
        <p:spPr>
          <a:xfrm>
            <a:off x="6334125" y="2535138"/>
            <a:ext cx="5286375" cy="3135510"/>
          </a:xfrm>
          <a:prstGeom prst="rect">
            <a:avLst/>
          </a:prstGeom>
          <a:noFill/>
          <a:ln>
            <a:noFill/>
          </a:ln>
        </p:spPr>
      </p:pic>
      <p:sp>
        <p:nvSpPr>
          <p:cNvPr id="104" name="Google Shape;104;p15"/>
          <p:cNvSpPr txBox="1"/>
          <p:nvPr/>
        </p:nvSpPr>
        <p:spPr>
          <a:xfrm>
            <a:off x="962025" y="3230463"/>
            <a:ext cx="4730591"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dirty="0">
                <a:solidFill>
                  <a:srgbClr val="2563EB"/>
                </a:solidFill>
                <a:latin typeface="Poppins SemiBold"/>
                <a:ea typeface="Poppins SemiBold"/>
                <a:cs typeface="Poppins SemiBold"/>
                <a:sym typeface="Poppins SemiBold"/>
              </a:rPr>
              <a:t>Computational Chains</a:t>
            </a:r>
            <a:endParaRPr dirty="0"/>
          </a:p>
        </p:txBody>
      </p:sp>
      <p:sp>
        <p:nvSpPr>
          <p:cNvPr id="105" name="Google Shape;105;p15"/>
          <p:cNvSpPr txBox="1"/>
          <p:nvPr/>
        </p:nvSpPr>
        <p:spPr>
          <a:xfrm>
            <a:off x="962025" y="3897213"/>
            <a:ext cx="4505325" cy="129266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1" i="0" u="none" strike="noStrike" cap="none" dirty="0">
                <a:solidFill>
                  <a:srgbClr val="475569"/>
                </a:solidFill>
                <a:latin typeface="Lato"/>
                <a:ea typeface="Lato"/>
                <a:cs typeface="Lato"/>
                <a:sym typeface="Lato"/>
              </a:rPr>
              <a:t>Distinct, often interdependent </a:t>
            </a:r>
            <a:r>
              <a:rPr lang="en-US" sz="2000" b="0" i="0" u="none" strike="noStrike" cap="none" dirty="0">
                <a:solidFill>
                  <a:srgbClr val="475569"/>
                </a:solidFill>
                <a:latin typeface="Lato"/>
                <a:ea typeface="Lato"/>
                <a:cs typeface="Lato"/>
                <a:sym typeface="Lato"/>
              </a:rPr>
              <a:t>computational steps</a:t>
            </a:r>
            <a:r>
              <a:rPr lang="en-US" sz="2000" dirty="0">
                <a:solidFill>
                  <a:srgbClr val="475569"/>
                </a:solidFill>
                <a:latin typeface="Lato"/>
                <a:ea typeface="Lato"/>
                <a:cs typeface="Lato"/>
                <a:sym typeface="Lato"/>
              </a:rPr>
              <a:t> </a:t>
            </a:r>
            <a:r>
              <a:rPr lang="en-US" sz="2000" dirty="0">
                <a:solidFill>
                  <a:srgbClr val="475569"/>
                </a:solidFill>
                <a:latin typeface="Lato"/>
                <a:ea typeface="Lato"/>
                <a:cs typeface="Lato"/>
                <a:sym typeface="Wingdings" pitchFamily="2" charset="2"/>
              </a:rPr>
              <a:t></a:t>
            </a:r>
            <a:r>
              <a:rPr lang="en-US" sz="2000" dirty="0">
                <a:solidFill>
                  <a:srgbClr val="475569"/>
                </a:solidFill>
                <a:latin typeface="Lato"/>
                <a:ea typeface="Lato"/>
                <a:cs typeface="Lato"/>
                <a:sym typeface="Lato"/>
              </a:rPr>
              <a:t> </a:t>
            </a:r>
            <a:r>
              <a:rPr lang="en-US" sz="2000" b="0" i="0" u="none" strike="noStrike" cap="none" dirty="0">
                <a:solidFill>
                  <a:srgbClr val="475569"/>
                </a:solidFill>
                <a:latin typeface="Lato"/>
                <a:ea typeface="Lato"/>
                <a:cs typeface="Lato"/>
                <a:sym typeface="Lato"/>
              </a:rPr>
              <a:t>Failure in one script affects the entire pipeline.</a:t>
            </a:r>
            <a:endParaRPr sz="1800" dirty="0"/>
          </a:p>
        </p:txBody>
      </p:sp>
      <p:sp>
        <p:nvSpPr>
          <p:cNvPr id="106" name="Google Shape;106;p15"/>
          <p:cNvSpPr txBox="1"/>
          <p:nvPr/>
        </p:nvSpPr>
        <p:spPr>
          <a:xfrm>
            <a:off x="6724650" y="3230463"/>
            <a:ext cx="4730591"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dirty="0">
                <a:solidFill>
                  <a:srgbClr val="2563EB"/>
                </a:solidFill>
                <a:latin typeface="Poppins SemiBold"/>
                <a:ea typeface="Poppins SemiBold"/>
                <a:cs typeface="Poppins SemiBold"/>
                <a:sym typeface="Poppins SemiBold"/>
              </a:rPr>
              <a:t>Environmental Drift</a:t>
            </a:r>
            <a:endParaRPr dirty="0"/>
          </a:p>
        </p:txBody>
      </p:sp>
      <p:sp>
        <p:nvSpPr>
          <p:cNvPr id="107" name="Google Shape;107;p15"/>
          <p:cNvSpPr txBox="1"/>
          <p:nvPr/>
        </p:nvSpPr>
        <p:spPr>
          <a:xfrm>
            <a:off x="6724650" y="3897213"/>
            <a:ext cx="4730591" cy="129266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dirty="0">
                <a:solidFill>
                  <a:srgbClr val="475569"/>
                </a:solidFill>
                <a:latin typeface="Lato"/>
                <a:ea typeface="Lato"/>
                <a:cs typeface="Lato"/>
                <a:sym typeface="Lato"/>
              </a:rPr>
              <a:t>Software versions, operating systems, and installed libraries can be inconsistent </a:t>
            </a:r>
            <a:r>
              <a:rPr lang="en-US" sz="2000" b="0" i="0" u="none" strike="noStrike" cap="none" dirty="0">
                <a:solidFill>
                  <a:srgbClr val="475569"/>
                </a:solidFill>
                <a:latin typeface="Lato"/>
                <a:ea typeface="Lato"/>
                <a:cs typeface="Lato"/>
                <a:sym typeface="Wingdings" pitchFamily="2" charset="2"/>
              </a:rPr>
              <a:t> </a:t>
            </a:r>
            <a:r>
              <a:rPr lang="en-US" sz="2000" b="1" i="0" u="none" strike="noStrike" cap="none" dirty="0">
                <a:solidFill>
                  <a:srgbClr val="475569"/>
                </a:solidFill>
                <a:latin typeface="Lato"/>
                <a:ea typeface="Lato"/>
                <a:cs typeface="Lato"/>
                <a:sym typeface="Lato"/>
              </a:rPr>
              <a:t>significant variance in results</a:t>
            </a:r>
            <a:r>
              <a:rPr lang="en-US" sz="2000" b="0" i="0" u="none" strike="noStrike" cap="none" dirty="0">
                <a:solidFill>
                  <a:srgbClr val="475569"/>
                </a:solidFill>
                <a:latin typeface="Lato"/>
                <a:ea typeface="Lato"/>
                <a:cs typeface="Lato"/>
                <a:sym typeface="Lato"/>
              </a:rPr>
              <a:t>.</a:t>
            </a:r>
            <a:endParaRPr sz="1800" dirty="0"/>
          </a:p>
        </p:txBody>
      </p:sp>
      <p:sp>
        <p:nvSpPr>
          <p:cNvPr id="108" name="Google Shape;108;p15"/>
          <p:cNvSpPr txBox="1"/>
          <p:nvPr/>
        </p:nvSpPr>
        <p:spPr>
          <a:xfrm>
            <a:off x="762000" y="919311"/>
            <a:ext cx="11401425" cy="553998"/>
          </a:xfrm>
          <a:prstGeom prst="rect">
            <a:avLst/>
          </a:prstGeom>
          <a:noFill/>
          <a:ln>
            <a:noFill/>
          </a:ln>
        </p:spPr>
        <p:txBody>
          <a:bodyPr spcFirstLastPara="1" wrap="square" lIns="0" tIns="0" rIns="0" bIns="0" anchor="t" anchorCtr="0">
            <a:spAutoFit/>
          </a:bodyPr>
          <a:lstStyle/>
          <a:p>
            <a:pPr lvl="0"/>
            <a:r>
              <a:rPr lang="en-US" sz="3600" b="1" dirty="0">
                <a:solidFill>
                  <a:srgbClr val="1E293B"/>
                </a:solidFill>
                <a:latin typeface="Poppins" pitchFamily="2" charset="77"/>
                <a:ea typeface="Lato"/>
                <a:cs typeface="Poppins" pitchFamily="2" charset="77"/>
                <a:sym typeface="Lato"/>
              </a:rPr>
              <a:t>The Challenge in Bioinformatics Research</a:t>
            </a:r>
            <a:endParaRPr lang="en-US" sz="3600" b="1" dirty="0">
              <a:latin typeface="Poppins" pitchFamily="2" charset="77"/>
              <a:cs typeface="Poppins" pitchFamily="2" charset="77"/>
            </a:endParaRPr>
          </a:p>
        </p:txBody>
      </p:sp>
      <p:sp>
        <p:nvSpPr>
          <p:cNvPr id="109" name="Google Shape;109;p15"/>
          <p:cNvSpPr/>
          <p:nvPr/>
        </p:nvSpPr>
        <p:spPr>
          <a:xfrm>
            <a:off x="571500" y="919311"/>
            <a:ext cx="76200" cy="619125"/>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3"/>
        <p:cNvGrpSpPr/>
        <p:nvPr/>
      </p:nvGrpSpPr>
      <p:grpSpPr>
        <a:xfrm>
          <a:off x="0" y="0"/>
          <a:ext cx="0" cy="0"/>
          <a:chOff x="0" y="0"/>
          <a:chExt cx="0" cy="0"/>
        </a:xfrm>
      </p:grpSpPr>
      <p:pic>
        <p:nvPicPr>
          <p:cNvPr id="115" name="Google Shape;115;p16" descr="image.png"/>
          <p:cNvPicPr preferRelativeResize="0"/>
          <p:nvPr/>
        </p:nvPicPr>
        <p:blipFill rotWithShape="1">
          <a:blip r:embed="rId3">
            <a:alphaModFix/>
          </a:blip>
          <a:srcRect/>
          <a:stretch/>
        </p:blipFill>
        <p:spPr>
          <a:xfrm>
            <a:off x="122157" y="2505670"/>
            <a:ext cx="3644436" cy="3433019"/>
          </a:xfrm>
          <a:prstGeom prst="rect">
            <a:avLst/>
          </a:prstGeom>
          <a:noFill/>
          <a:ln>
            <a:noFill/>
          </a:ln>
        </p:spPr>
      </p:pic>
      <p:pic>
        <p:nvPicPr>
          <p:cNvPr id="116" name="Google Shape;116;p16" descr="image.png"/>
          <p:cNvPicPr preferRelativeResize="0"/>
          <p:nvPr/>
        </p:nvPicPr>
        <p:blipFill rotWithShape="1">
          <a:blip r:embed="rId4">
            <a:alphaModFix/>
          </a:blip>
          <a:srcRect/>
          <a:stretch/>
        </p:blipFill>
        <p:spPr>
          <a:xfrm>
            <a:off x="4043675" y="2505670"/>
            <a:ext cx="3644436" cy="3433019"/>
          </a:xfrm>
          <a:prstGeom prst="rect">
            <a:avLst/>
          </a:prstGeom>
          <a:noFill/>
          <a:ln>
            <a:noFill/>
          </a:ln>
        </p:spPr>
      </p:pic>
      <p:pic>
        <p:nvPicPr>
          <p:cNvPr id="117" name="Google Shape;117;p16" descr="image.png"/>
          <p:cNvPicPr preferRelativeResize="0"/>
          <p:nvPr/>
        </p:nvPicPr>
        <p:blipFill rotWithShape="1">
          <a:blip r:embed="rId5">
            <a:alphaModFix/>
          </a:blip>
          <a:srcRect/>
          <a:stretch/>
        </p:blipFill>
        <p:spPr>
          <a:xfrm>
            <a:off x="7976213" y="2505670"/>
            <a:ext cx="3644436" cy="3433019"/>
          </a:xfrm>
          <a:prstGeom prst="rect">
            <a:avLst/>
          </a:prstGeom>
          <a:noFill/>
          <a:ln>
            <a:noFill/>
          </a:ln>
        </p:spPr>
      </p:pic>
      <p:sp>
        <p:nvSpPr>
          <p:cNvPr id="118" name="Google Shape;118;p16"/>
          <p:cNvSpPr txBox="1"/>
          <p:nvPr/>
        </p:nvSpPr>
        <p:spPr>
          <a:xfrm>
            <a:off x="496768" y="3721347"/>
            <a:ext cx="3047099"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dirty="0">
                <a:solidFill>
                  <a:srgbClr val="2563EB"/>
                </a:solidFill>
                <a:latin typeface="Poppins SemiBold"/>
                <a:ea typeface="Poppins SemiBold"/>
                <a:cs typeface="Poppins SemiBold"/>
                <a:sym typeface="Poppins SemiBold"/>
              </a:rPr>
              <a:t>Pipelines</a:t>
            </a:r>
            <a:endParaRPr dirty="0"/>
          </a:p>
        </p:txBody>
      </p:sp>
      <p:sp>
        <p:nvSpPr>
          <p:cNvPr id="119" name="Google Shape;119;p16"/>
          <p:cNvSpPr txBox="1"/>
          <p:nvPr/>
        </p:nvSpPr>
        <p:spPr>
          <a:xfrm>
            <a:off x="569318" y="4315420"/>
            <a:ext cx="2901999" cy="129266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0" i="0" u="none" strike="noStrike" cap="none" dirty="0">
                <a:solidFill>
                  <a:srgbClr val="475569"/>
                </a:solidFill>
                <a:latin typeface="Lato"/>
                <a:ea typeface="Lato"/>
                <a:cs typeface="Lato"/>
                <a:sym typeface="Lato"/>
              </a:rPr>
              <a:t>Defining the </a:t>
            </a:r>
            <a:r>
              <a:rPr lang="en-US" sz="2000" i="0" u="none" strike="noStrike" cap="none" dirty="0">
                <a:solidFill>
                  <a:srgbClr val="475569"/>
                </a:solidFill>
                <a:latin typeface="Lato"/>
                <a:ea typeface="Lato"/>
                <a:cs typeface="Lato"/>
                <a:sym typeface="Lato"/>
              </a:rPr>
              <a:t>automated sequence</a:t>
            </a:r>
            <a:r>
              <a:rPr lang="en-US" sz="2000" b="0" i="0" u="none" strike="noStrike" cap="none" dirty="0">
                <a:solidFill>
                  <a:srgbClr val="475569"/>
                </a:solidFill>
                <a:latin typeface="Lato"/>
                <a:ea typeface="Lato"/>
                <a:cs typeface="Lato"/>
                <a:sym typeface="Lato"/>
              </a:rPr>
              <a:t> of your research steps.</a:t>
            </a:r>
            <a:endParaRPr sz="1800" dirty="0"/>
          </a:p>
        </p:txBody>
      </p:sp>
      <p:sp>
        <p:nvSpPr>
          <p:cNvPr id="120" name="Google Shape;120;p16"/>
          <p:cNvSpPr txBox="1"/>
          <p:nvPr/>
        </p:nvSpPr>
        <p:spPr>
          <a:xfrm>
            <a:off x="4418286" y="3721347"/>
            <a:ext cx="3047099"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2563EB"/>
                </a:solidFill>
                <a:latin typeface="Poppins SemiBold"/>
                <a:ea typeface="Poppins SemiBold"/>
                <a:cs typeface="Poppins SemiBold"/>
                <a:sym typeface="Poppins SemiBold"/>
              </a:rPr>
              <a:t>Containers</a:t>
            </a:r>
            <a:endParaRPr/>
          </a:p>
        </p:txBody>
      </p:sp>
      <p:sp>
        <p:nvSpPr>
          <p:cNvPr id="121" name="Google Shape;121;p16"/>
          <p:cNvSpPr txBox="1"/>
          <p:nvPr/>
        </p:nvSpPr>
        <p:spPr>
          <a:xfrm>
            <a:off x="4490836" y="4315420"/>
            <a:ext cx="2901999" cy="129266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0" i="0" u="none" strike="noStrike" cap="none" dirty="0">
                <a:solidFill>
                  <a:srgbClr val="475569"/>
                </a:solidFill>
                <a:latin typeface="Lato"/>
                <a:ea typeface="Lato"/>
                <a:cs typeface="Lato"/>
                <a:sym typeface="Lato"/>
              </a:rPr>
              <a:t>“Freezing” the software environment to ensure consistency.</a:t>
            </a:r>
            <a:endParaRPr sz="1800" dirty="0"/>
          </a:p>
        </p:txBody>
      </p:sp>
      <p:sp>
        <p:nvSpPr>
          <p:cNvPr id="122" name="Google Shape;122;p16"/>
          <p:cNvSpPr txBox="1"/>
          <p:nvPr/>
        </p:nvSpPr>
        <p:spPr>
          <a:xfrm>
            <a:off x="8135272" y="3395949"/>
            <a:ext cx="3289220" cy="11079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dirty="0">
                <a:solidFill>
                  <a:srgbClr val="2563EB"/>
                </a:solidFill>
                <a:latin typeface="Poppins SemiBold"/>
                <a:ea typeface="Poppins SemiBold"/>
                <a:cs typeface="Poppins SemiBold"/>
                <a:sym typeface="Poppins SemiBold"/>
              </a:rPr>
              <a:t>Workflow Management Systems</a:t>
            </a:r>
            <a:endParaRPr dirty="0"/>
          </a:p>
        </p:txBody>
      </p:sp>
      <p:sp>
        <p:nvSpPr>
          <p:cNvPr id="123" name="Google Shape;123;p16"/>
          <p:cNvSpPr txBox="1"/>
          <p:nvPr/>
        </p:nvSpPr>
        <p:spPr>
          <a:xfrm>
            <a:off x="8135272" y="4641722"/>
            <a:ext cx="3485378" cy="129266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0" i="0" u="none" strike="noStrike" cap="none" dirty="0">
                <a:solidFill>
                  <a:srgbClr val="475569"/>
                </a:solidFill>
                <a:latin typeface="Lato"/>
                <a:ea typeface="Lato"/>
                <a:cs typeface="Lato"/>
                <a:sym typeface="Lato"/>
              </a:rPr>
              <a:t>Orchestrating the execution across computational resources.</a:t>
            </a:r>
            <a:endParaRPr sz="1800" dirty="0"/>
          </a:p>
        </p:txBody>
      </p:sp>
      <p:pic>
        <p:nvPicPr>
          <p:cNvPr id="124" name="Google Shape;124;p16" descr="image.png"/>
          <p:cNvPicPr preferRelativeResize="0"/>
          <p:nvPr/>
        </p:nvPicPr>
        <p:blipFill rotWithShape="1">
          <a:blip r:embed="rId6">
            <a:alphaModFix/>
          </a:blip>
          <a:srcRect/>
          <a:stretch/>
        </p:blipFill>
        <p:spPr>
          <a:xfrm>
            <a:off x="1763068" y="2716366"/>
            <a:ext cx="514350" cy="457200"/>
          </a:xfrm>
          <a:prstGeom prst="rect">
            <a:avLst/>
          </a:prstGeom>
          <a:noFill/>
          <a:ln>
            <a:noFill/>
          </a:ln>
        </p:spPr>
      </p:pic>
      <p:pic>
        <p:nvPicPr>
          <p:cNvPr id="125" name="Google Shape;125;p16" descr="image.png"/>
          <p:cNvPicPr preferRelativeResize="0"/>
          <p:nvPr/>
        </p:nvPicPr>
        <p:blipFill rotWithShape="1">
          <a:blip r:embed="rId7">
            <a:alphaModFix/>
          </a:blip>
          <a:srcRect/>
          <a:stretch/>
        </p:blipFill>
        <p:spPr>
          <a:xfrm>
            <a:off x="5741737" y="2716366"/>
            <a:ext cx="400050" cy="457200"/>
          </a:xfrm>
          <a:prstGeom prst="rect">
            <a:avLst/>
          </a:prstGeom>
          <a:noFill/>
          <a:ln>
            <a:noFill/>
          </a:ln>
        </p:spPr>
      </p:pic>
      <p:pic>
        <p:nvPicPr>
          <p:cNvPr id="126" name="Google Shape;126;p16" descr="image.png"/>
          <p:cNvPicPr preferRelativeResize="0"/>
          <p:nvPr/>
        </p:nvPicPr>
        <p:blipFill rotWithShape="1">
          <a:blip r:embed="rId8">
            <a:alphaModFix/>
          </a:blip>
          <a:srcRect/>
          <a:stretch/>
        </p:blipFill>
        <p:spPr>
          <a:xfrm>
            <a:off x="9588549" y="2716366"/>
            <a:ext cx="571500" cy="457200"/>
          </a:xfrm>
          <a:prstGeom prst="rect">
            <a:avLst/>
          </a:prstGeom>
          <a:noFill/>
          <a:ln>
            <a:noFill/>
          </a:ln>
        </p:spPr>
      </p:pic>
      <p:sp>
        <p:nvSpPr>
          <p:cNvPr id="127" name="Google Shape;127;p16"/>
          <p:cNvSpPr txBox="1"/>
          <p:nvPr/>
        </p:nvSpPr>
        <p:spPr>
          <a:xfrm>
            <a:off x="762000" y="919311"/>
            <a:ext cx="114014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dirty="0">
                <a:solidFill>
                  <a:srgbClr val="1E293B"/>
                </a:solidFill>
                <a:latin typeface="Poppins SemiBold"/>
                <a:ea typeface="Poppins SemiBold"/>
                <a:cs typeface="Poppins SemiBold"/>
                <a:sym typeface="Poppins SemiBold"/>
              </a:rPr>
              <a:t>So... What Can We Do?</a:t>
            </a:r>
            <a:endParaRPr sz="1600" dirty="0"/>
          </a:p>
        </p:txBody>
      </p:sp>
      <p:sp>
        <p:nvSpPr>
          <p:cNvPr id="128" name="Google Shape;128;p16"/>
          <p:cNvSpPr/>
          <p:nvPr/>
        </p:nvSpPr>
        <p:spPr>
          <a:xfrm>
            <a:off x="571500" y="919311"/>
            <a:ext cx="76200" cy="619125"/>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2"/>
        <p:cNvGrpSpPr/>
        <p:nvPr/>
      </p:nvGrpSpPr>
      <p:grpSpPr>
        <a:xfrm>
          <a:off x="0" y="0"/>
          <a:ext cx="0" cy="0"/>
          <a:chOff x="0" y="0"/>
          <a:chExt cx="0" cy="0"/>
        </a:xfrm>
      </p:grpSpPr>
      <p:pic>
        <p:nvPicPr>
          <p:cNvPr id="133" name="Google Shape;133;p17" descr="image.png"/>
          <p:cNvPicPr preferRelativeResize="0"/>
          <p:nvPr/>
        </p:nvPicPr>
        <p:blipFill rotWithShape="1">
          <a:blip r:embed="rId3">
            <a:alphaModFix/>
          </a:blip>
          <a:srcRect/>
          <a:stretch/>
        </p:blipFill>
        <p:spPr>
          <a:xfrm>
            <a:off x="0" y="308472"/>
            <a:ext cx="12192000" cy="6858000"/>
          </a:xfrm>
          <a:prstGeom prst="rect">
            <a:avLst/>
          </a:prstGeom>
          <a:noFill/>
          <a:ln>
            <a:noFill/>
          </a:ln>
        </p:spPr>
      </p:pic>
      <p:sp>
        <p:nvSpPr>
          <p:cNvPr id="135" name="Google Shape;135;p17"/>
          <p:cNvSpPr txBox="1"/>
          <p:nvPr/>
        </p:nvSpPr>
        <p:spPr>
          <a:xfrm>
            <a:off x="571500" y="2606456"/>
            <a:ext cx="10049678" cy="9848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200" i="0" u="none" strike="noStrike" cap="none" dirty="0">
                <a:solidFill>
                  <a:srgbClr val="2563EB"/>
                </a:solidFill>
                <a:latin typeface="Lato" panose="020F0502020204030203" pitchFamily="34" charset="0"/>
                <a:ea typeface="Lato" panose="020F0502020204030203" pitchFamily="34" charset="0"/>
                <a:cs typeface="Lato" panose="020F0502020204030203" pitchFamily="34" charset="0"/>
                <a:sym typeface="Poppins SemiBold"/>
              </a:rPr>
              <a:t>A specific set of programs or scripts run in a </a:t>
            </a:r>
            <a:r>
              <a:rPr lang="en-US" sz="3200" b="1" i="0" u="none" strike="noStrike" cap="none" dirty="0">
                <a:solidFill>
                  <a:srgbClr val="2563EB"/>
                </a:solidFill>
                <a:latin typeface="Lato" panose="020F0502020204030203" pitchFamily="34" charset="0"/>
                <a:ea typeface="Lato" panose="020F0502020204030203" pitchFamily="34" charset="0"/>
                <a:cs typeface="Lato" panose="020F0502020204030203" pitchFamily="34" charset="0"/>
                <a:sym typeface="Poppins SemiBold"/>
              </a:rPr>
              <a:t>predefined, automated sequence. </a:t>
            </a:r>
            <a:endParaRPr sz="1800" b="1" dirty="0">
              <a:latin typeface="Lato" panose="020F0502020204030203" pitchFamily="34" charset="0"/>
              <a:ea typeface="Lato" panose="020F0502020204030203" pitchFamily="34" charset="0"/>
              <a:cs typeface="Lato" panose="020F0502020204030203" pitchFamily="34" charset="0"/>
            </a:endParaRPr>
          </a:p>
        </p:txBody>
      </p:sp>
      <p:sp>
        <p:nvSpPr>
          <p:cNvPr id="137" name="Google Shape;137;p17"/>
          <p:cNvSpPr txBox="1"/>
          <p:nvPr/>
        </p:nvSpPr>
        <p:spPr>
          <a:xfrm>
            <a:off x="762000" y="919311"/>
            <a:ext cx="114014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dirty="0">
                <a:solidFill>
                  <a:srgbClr val="1E293B"/>
                </a:solidFill>
                <a:latin typeface="Poppins SemiBold"/>
                <a:ea typeface="Poppins SemiBold"/>
                <a:cs typeface="Poppins SemiBold"/>
                <a:sym typeface="Poppins SemiBold"/>
              </a:rPr>
              <a:t>Pipelines: What &amp; Why?</a:t>
            </a:r>
            <a:endParaRPr sz="1600" dirty="0"/>
          </a:p>
        </p:txBody>
      </p:sp>
      <p:sp>
        <p:nvSpPr>
          <p:cNvPr id="138" name="Google Shape;138;p17"/>
          <p:cNvSpPr/>
          <p:nvPr/>
        </p:nvSpPr>
        <p:spPr>
          <a:xfrm>
            <a:off x="571500" y="919311"/>
            <a:ext cx="76200" cy="619125"/>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44;p18">
            <a:extLst>
              <a:ext uri="{FF2B5EF4-FFF2-40B4-BE49-F238E27FC236}">
                <a16:creationId xmlns:a16="http://schemas.microsoft.com/office/drawing/2014/main" id="{35DEE899-FC9B-9E72-5CF9-8BDF1ABF1520}"/>
              </a:ext>
            </a:extLst>
          </p:cNvPr>
          <p:cNvSpPr txBox="1"/>
          <p:nvPr/>
        </p:nvSpPr>
        <p:spPr>
          <a:xfrm>
            <a:off x="609600" y="4382910"/>
            <a:ext cx="11621648" cy="1329595"/>
          </a:xfrm>
          <a:prstGeom prst="rect">
            <a:avLst/>
          </a:prstGeom>
          <a:noFill/>
          <a:ln>
            <a:noFill/>
          </a:ln>
        </p:spPr>
        <p:txBody>
          <a:bodyPr spcFirstLastPara="1" wrap="square" lIns="0" tIns="0" rIns="0" bIns="0" anchor="t" anchorCtr="0">
            <a:spAutoFit/>
          </a:bodyPr>
          <a:lstStyle/>
          <a:p>
            <a:pPr marL="342900" marR="0" lvl="0" indent="-342900" algn="l" rtl="0">
              <a:lnSpc>
                <a:spcPct val="120000"/>
              </a:lnSpc>
              <a:spcBef>
                <a:spcPts val="0"/>
              </a:spcBef>
              <a:spcAft>
                <a:spcPts val="0"/>
              </a:spcAft>
              <a:buFont typeface="Wingdings" pitchFamily="2" charset="2"/>
              <a:buChar char="§"/>
            </a:pPr>
            <a:r>
              <a:rPr lang="en-US" sz="2400" b="1" i="0" u="none" strike="noStrike" cap="none" dirty="0">
                <a:solidFill>
                  <a:srgbClr val="475569"/>
                </a:solidFill>
                <a:latin typeface="Lato"/>
                <a:ea typeface="Lato"/>
                <a:cs typeface="Lato"/>
                <a:sym typeface="Lato"/>
              </a:rPr>
              <a:t>Reduce Manual Errors:</a:t>
            </a:r>
            <a:r>
              <a:rPr lang="en-US" sz="2400" b="0" i="0" u="none" strike="noStrike" cap="none" dirty="0">
                <a:solidFill>
                  <a:srgbClr val="475569"/>
                </a:solidFill>
                <a:latin typeface="Lato"/>
                <a:ea typeface="Lato"/>
                <a:cs typeface="Lato"/>
                <a:sym typeface="Lato"/>
              </a:rPr>
              <a:t> Eliminates human mistakes</a:t>
            </a:r>
          </a:p>
          <a:p>
            <a:pPr marL="342900" indent="-342900">
              <a:lnSpc>
                <a:spcPct val="120000"/>
              </a:lnSpc>
              <a:buFont typeface="Wingdings" pitchFamily="2" charset="2"/>
              <a:buChar char="§"/>
            </a:pPr>
            <a:r>
              <a:rPr lang="en-US" sz="2400" b="1" dirty="0">
                <a:solidFill>
                  <a:srgbClr val="475569"/>
                </a:solidFill>
                <a:latin typeface="Lato"/>
                <a:ea typeface="Lato"/>
                <a:cs typeface="Lato"/>
                <a:sym typeface="Lato"/>
              </a:rPr>
              <a:t>Saves Time:</a:t>
            </a:r>
            <a:r>
              <a:rPr lang="en-US" sz="2400" dirty="0">
                <a:solidFill>
                  <a:srgbClr val="475569"/>
                </a:solidFill>
                <a:latin typeface="Lato"/>
                <a:ea typeface="Lato"/>
                <a:cs typeface="Lato"/>
                <a:sym typeface="Lato"/>
              </a:rPr>
              <a:t> Re-run complex analyses instantly on new datasets.</a:t>
            </a:r>
          </a:p>
          <a:p>
            <a:pPr marL="342900" indent="-342900">
              <a:lnSpc>
                <a:spcPct val="120000"/>
              </a:lnSpc>
              <a:buFont typeface="Wingdings" pitchFamily="2" charset="2"/>
              <a:buChar char="§"/>
            </a:pPr>
            <a:r>
              <a:rPr lang="en-US" sz="2400" b="1" dirty="0">
                <a:solidFill>
                  <a:srgbClr val="475569"/>
                </a:solidFill>
                <a:latin typeface="Lato"/>
                <a:ea typeface="Lato"/>
                <a:cs typeface="Lato"/>
                <a:sym typeface="Lato"/>
              </a:rPr>
              <a:t>Detailed Records:</a:t>
            </a:r>
            <a:r>
              <a:rPr lang="en-US" sz="2400" dirty="0">
                <a:solidFill>
                  <a:srgbClr val="475569"/>
                </a:solidFill>
                <a:latin typeface="Lato"/>
                <a:ea typeface="Lato"/>
                <a:cs typeface="Lato"/>
                <a:sym typeface="Lato"/>
              </a:rPr>
              <a:t> Step-by-step history of your data’s history.</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6465-A7D9-6D59-B86A-314FE806317A}"/>
            </a:ext>
          </a:extLst>
        </p:cNvPr>
        <p:cNvGrpSpPr/>
        <p:nvPr/>
      </p:nvGrpSpPr>
      <p:grpSpPr>
        <a:xfrm>
          <a:off x="0" y="0"/>
          <a:ext cx="0" cy="0"/>
          <a:chOff x="0" y="0"/>
          <a:chExt cx="0" cy="0"/>
        </a:xfrm>
      </p:grpSpPr>
      <p:grpSp>
        <p:nvGrpSpPr>
          <p:cNvPr id="67" name="Group 66">
            <a:extLst>
              <a:ext uri="{FF2B5EF4-FFF2-40B4-BE49-F238E27FC236}">
                <a16:creationId xmlns:a16="http://schemas.microsoft.com/office/drawing/2014/main" id="{B28AB466-5AC3-E895-C627-5FFB4CBA71E9}"/>
              </a:ext>
            </a:extLst>
          </p:cNvPr>
          <p:cNvGrpSpPr/>
          <p:nvPr/>
        </p:nvGrpSpPr>
        <p:grpSpPr>
          <a:xfrm>
            <a:off x="600890" y="2850794"/>
            <a:ext cx="10526772" cy="2442031"/>
            <a:chOff x="600890" y="2850794"/>
            <a:chExt cx="10526772" cy="2442031"/>
          </a:xfrm>
        </p:grpSpPr>
        <p:sp>
          <p:nvSpPr>
            <p:cNvPr id="4" name="TextBox 3">
              <a:extLst>
                <a:ext uri="{FF2B5EF4-FFF2-40B4-BE49-F238E27FC236}">
                  <a16:creationId xmlns:a16="http://schemas.microsoft.com/office/drawing/2014/main" id="{3E606777-F2CB-7BCB-47A0-7B018CAD9F0B}"/>
                </a:ext>
              </a:extLst>
            </p:cNvPr>
            <p:cNvSpPr txBox="1"/>
            <p:nvPr/>
          </p:nvSpPr>
          <p:spPr>
            <a:xfrm>
              <a:off x="600890" y="2850794"/>
              <a:ext cx="2157550" cy="830997"/>
            </a:xfrm>
            <a:prstGeom prst="rect">
              <a:avLst/>
            </a:prstGeom>
            <a:noFill/>
            <a:ln w="28575">
              <a:solidFill>
                <a:schemeClr val="tx1"/>
              </a:solidFill>
            </a:ln>
          </p:spPr>
          <p:txBody>
            <a:bodyPr wrap="square" rtlCol="0">
              <a:spAutoFit/>
            </a:bodyPr>
            <a:lstStyle/>
            <a:p>
              <a:pPr algn="ctr"/>
              <a:r>
                <a:rPr lang="en-US" sz="2400" dirty="0">
                  <a:solidFill>
                    <a:srgbClr val="2563EB"/>
                  </a:solidFill>
                  <a:latin typeface="Lato" panose="020F0502020204030203" pitchFamily="34" charset="0"/>
                  <a:ea typeface="Lato" panose="020F0502020204030203" pitchFamily="34" charset="0"/>
                  <a:cs typeface="Lato" panose="020F0502020204030203" pitchFamily="34" charset="0"/>
                  <a:sym typeface="Poppins SemiBold"/>
                </a:rPr>
                <a:t>Metagenomic Reads</a:t>
              </a:r>
              <a:endParaRPr lang="en-US" sz="2400" dirty="0">
                <a:latin typeface="Lato" panose="020F0502020204030203" pitchFamily="34" charset="0"/>
                <a:ea typeface="Lato" panose="020F0502020204030203" pitchFamily="34" charset="0"/>
                <a:cs typeface="Lato" panose="020F0502020204030203" pitchFamily="34" charset="0"/>
              </a:endParaRPr>
            </a:p>
          </p:txBody>
        </p:sp>
        <p:sp>
          <p:nvSpPr>
            <p:cNvPr id="10" name="TextBox 9">
              <a:extLst>
                <a:ext uri="{FF2B5EF4-FFF2-40B4-BE49-F238E27FC236}">
                  <a16:creationId xmlns:a16="http://schemas.microsoft.com/office/drawing/2014/main" id="{4D6836F0-A13D-23C2-1F04-2CACF4CDA2B4}"/>
                </a:ext>
              </a:extLst>
            </p:cNvPr>
            <p:cNvSpPr txBox="1"/>
            <p:nvPr/>
          </p:nvSpPr>
          <p:spPr>
            <a:xfrm>
              <a:off x="3557649" y="2850794"/>
              <a:ext cx="1652451" cy="830997"/>
            </a:xfrm>
            <a:prstGeom prst="rect">
              <a:avLst/>
            </a:prstGeom>
            <a:noFill/>
            <a:ln w="28575">
              <a:solidFill>
                <a:schemeClr val="tx1"/>
              </a:solidFill>
            </a:ln>
          </p:spPr>
          <p:txBody>
            <a:bodyPr wrap="square" rtlCol="0">
              <a:spAutoFit/>
            </a:bodyPr>
            <a:lstStyle/>
            <a:p>
              <a:pPr algn="ctr"/>
              <a:r>
                <a:rPr lang="en-US" sz="2400" dirty="0">
                  <a:solidFill>
                    <a:srgbClr val="2563EB"/>
                  </a:solidFill>
                  <a:latin typeface="Lato" panose="020F0502020204030203" pitchFamily="34" charset="0"/>
                  <a:ea typeface="Lato" panose="020F0502020204030203" pitchFamily="34" charset="0"/>
                  <a:cs typeface="Lato" panose="020F0502020204030203" pitchFamily="34" charset="0"/>
                  <a:sym typeface="Poppins SemiBold"/>
                </a:rPr>
                <a:t>Taxonomic Profiling</a:t>
              </a:r>
              <a:endParaRPr lang="en-US" sz="2400" dirty="0">
                <a:latin typeface="Lato" panose="020F0502020204030203" pitchFamily="34" charset="0"/>
                <a:ea typeface="Lato" panose="020F0502020204030203" pitchFamily="34" charset="0"/>
                <a:cs typeface="Lato" panose="020F0502020204030203" pitchFamily="34" charset="0"/>
              </a:endParaRPr>
            </a:p>
          </p:txBody>
        </p:sp>
        <p:sp>
          <p:nvSpPr>
            <p:cNvPr id="11" name="TextBox 10">
              <a:extLst>
                <a:ext uri="{FF2B5EF4-FFF2-40B4-BE49-F238E27FC236}">
                  <a16:creationId xmlns:a16="http://schemas.microsoft.com/office/drawing/2014/main" id="{4B13D144-859D-D0C6-39DC-BF5716397D11}"/>
                </a:ext>
              </a:extLst>
            </p:cNvPr>
            <p:cNvSpPr txBox="1"/>
            <p:nvPr/>
          </p:nvSpPr>
          <p:spPr>
            <a:xfrm>
              <a:off x="6009309" y="2850794"/>
              <a:ext cx="2330632" cy="830997"/>
            </a:xfrm>
            <a:prstGeom prst="rect">
              <a:avLst/>
            </a:prstGeom>
            <a:noFill/>
            <a:ln w="28575">
              <a:solidFill>
                <a:schemeClr val="tx1"/>
              </a:solidFill>
            </a:ln>
          </p:spPr>
          <p:txBody>
            <a:bodyPr wrap="square" rtlCol="0">
              <a:spAutoFit/>
            </a:bodyPr>
            <a:lstStyle/>
            <a:p>
              <a:pPr algn="ctr"/>
              <a:r>
                <a:rPr lang="en-US" sz="2400" dirty="0">
                  <a:solidFill>
                    <a:srgbClr val="2563EB"/>
                  </a:solidFill>
                  <a:latin typeface="Lato" panose="020F0502020204030203" pitchFamily="34" charset="0"/>
                  <a:ea typeface="Lato" panose="020F0502020204030203" pitchFamily="34" charset="0"/>
                  <a:cs typeface="Lato" panose="020F0502020204030203" pitchFamily="34" charset="0"/>
                  <a:sym typeface="Poppins SemiBold"/>
                </a:rPr>
                <a:t>Pangenome Search</a:t>
              </a:r>
              <a:endParaRPr lang="en-US" sz="2400" dirty="0">
                <a:latin typeface="Lato" panose="020F0502020204030203" pitchFamily="34" charset="0"/>
                <a:ea typeface="Lato" panose="020F0502020204030203" pitchFamily="34" charset="0"/>
                <a:cs typeface="Lato" panose="020F0502020204030203" pitchFamily="34" charset="0"/>
              </a:endParaRPr>
            </a:p>
          </p:txBody>
        </p:sp>
        <p:sp>
          <p:nvSpPr>
            <p:cNvPr id="12" name="TextBox 11">
              <a:extLst>
                <a:ext uri="{FF2B5EF4-FFF2-40B4-BE49-F238E27FC236}">
                  <a16:creationId xmlns:a16="http://schemas.microsoft.com/office/drawing/2014/main" id="{02EA9F70-01E3-F306-E086-C024F3B32682}"/>
                </a:ext>
              </a:extLst>
            </p:cNvPr>
            <p:cNvSpPr txBox="1"/>
            <p:nvPr/>
          </p:nvSpPr>
          <p:spPr>
            <a:xfrm>
              <a:off x="9099275" y="2850794"/>
              <a:ext cx="1612203" cy="830997"/>
            </a:xfrm>
            <a:prstGeom prst="rect">
              <a:avLst/>
            </a:prstGeom>
            <a:noFill/>
            <a:ln w="28575">
              <a:solidFill>
                <a:schemeClr val="tx1"/>
              </a:solidFill>
            </a:ln>
          </p:spPr>
          <p:txBody>
            <a:bodyPr wrap="square" rtlCol="0">
              <a:spAutoFit/>
            </a:bodyPr>
            <a:lstStyle/>
            <a:p>
              <a:pPr algn="ctr"/>
              <a:r>
                <a:rPr lang="en-US" sz="2400" dirty="0">
                  <a:solidFill>
                    <a:srgbClr val="2563EB"/>
                  </a:solidFill>
                  <a:latin typeface="Lato" panose="020F0502020204030203" pitchFamily="34" charset="0"/>
                  <a:ea typeface="Lato" panose="020F0502020204030203" pitchFamily="34" charset="0"/>
                  <a:cs typeface="Lato" panose="020F0502020204030203" pitchFamily="34" charset="0"/>
                  <a:sym typeface="Poppins SemiBold"/>
                </a:rPr>
                <a:t>Translated Alignment</a:t>
              </a:r>
              <a:endParaRPr lang="en-US" sz="2400" dirty="0">
                <a:latin typeface="Lato" panose="020F0502020204030203" pitchFamily="34" charset="0"/>
                <a:ea typeface="Lato" panose="020F0502020204030203" pitchFamily="34" charset="0"/>
                <a:cs typeface="Lato" panose="020F0502020204030203" pitchFamily="34" charset="0"/>
              </a:endParaRPr>
            </a:p>
          </p:txBody>
        </p:sp>
        <p:sp>
          <p:nvSpPr>
            <p:cNvPr id="13" name="TextBox 12">
              <a:extLst>
                <a:ext uri="{FF2B5EF4-FFF2-40B4-BE49-F238E27FC236}">
                  <a16:creationId xmlns:a16="http://schemas.microsoft.com/office/drawing/2014/main" id="{80B59ED9-9020-FE95-E1AA-38D525E90455}"/>
                </a:ext>
              </a:extLst>
            </p:cNvPr>
            <p:cNvSpPr txBox="1"/>
            <p:nvPr/>
          </p:nvSpPr>
          <p:spPr>
            <a:xfrm>
              <a:off x="8691439" y="4461828"/>
              <a:ext cx="2436223" cy="830997"/>
            </a:xfrm>
            <a:prstGeom prst="rect">
              <a:avLst/>
            </a:prstGeom>
            <a:noFill/>
            <a:ln w="28575">
              <a:solidFill>
                <a:schemeClr val="tx1"/>
              </a:solidFill>
            </a:ln>
          </p:spPr>
          <p:txBody>
            <a:bodyPr wrap="square" rtlCol="0">
              <a:spAutoFit/>
            </a:bodyPr>
            <a:lstStyle/>
            <a:p>
              <a:pPr algn="ctr"/>
              <a:r>
                <a:rPr lang="en-US" sz="2400" dirty="0">
                  <a:solidFill>
                    <a:srgbClr val="2563EB"/>
                  </a:solidFill>
                  <a:latin typeface="Lato" panose="020F0502020204030203" pitchFamily="34" charset="0"/>
                  <a:ea typeface="Lato" panose="020F0502020204030203" pitchFamily="34" charset="0"/>
                  <a:cs typeface="Lato" panose="020F0502020204030203" pitchFamily="34" charset="0"/>
                  <a:sym typeface="Poppins SemiBold"/>
                </a:rPr>
                <a:t>Pathway Reconstruction</a:t>
              </a:r>
              <a:endParaRPr lang="en-US" sz="2400" dirty="0">
                <a:latin typeface="Lato" panose="020F0502020204030203" pitchFamily="34" charset="0"/>
                <a:ea typeface="Lato" panose="020F0502020204030203" pitchFamily="34" charset="0"/>
                <a:cs typeface="Lato" panose="020F0502020204030203" pitchFamily="34" charset="0"/>
              </a:endParaRPr>
            </a:p>
          </p:txBody>
        </p:sp>
        <p:cxnSp>
          <p:nvCxnSpPr>
            <p:cNvPr id="18" name="Straight Arrow Connector 17">
              <a:extLst>
                <a:ext uri="{FF2B5EF4-FFF2-40B4-BE49-F238E27FC236}">
                  <a16:creationId xmlns:a16="http://schemas.microsoft.com/office/drawing/2014/main" id="{348047D8-8F46-F34E-E793-CF75C32E7CA7}"/>
                </a:ext>
              </a:extLst>
            </p:cNvPr>
            <p:cNvCxnSpPr>
              <a:cxnSpLocks/>
            </p:cNvCxnSpPr>
            <p:nvPr/>
          </p:nvCxnSpPr>
          <p:spPr>
            <a:xfrm>
              <a:off x="9909550" y="3824789"/>
              <a:ext cx="0" cy="510478"/>
            </a:xfrm>
            <a:prstGeom prst="straightConnector1">
              <a:avLst/>
            </a:prstGeom>
            <a:ln w="38100">
              <a:solidFill>
                <a:schemeClr val="tx1"/>
              </a:solidFill>
              <a:tailEnd type="stealth" w="lg" len="med"/>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ABC424F1-99C2-398E-3146-7765C26259B4}"/>
                </a:ext>
              </a:extLst>
            </p:cNvPr>
            <p:cNvCxnSpPr>
              <a:cxnSpLocks/>
            </p:cNvCxnSpPr>
            <p:nvPr/>
          </p:nvCxnSpPr>
          <p:spPr>
            <a:xfrm flipV="1">
              <a:off x="2901464" y="3264500"/>
              <a:ext cx="548640" cy="3585"/>
            </a:xfrm>
            <a:prstGeom prst="straightConnector1">
              <a:avLst/>
            </a:prstGeom>
            <a:ln w="38100">
              <a:solidFill>
                <a:schemeClr val="tx1"/>
              </a:solidFill>
              <a:tailEnd type="stealth" w="lg" len="med"/>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CF233E3-08DA-9BB9-5708-266352B67D48}"/>
                </a:ext>
              </a:extLst>
            </p:cNvPr>
            <p:cNvCxnSpPr>
              <a:cxnSpLocks/>
            </p:cNvCxnSpPr>
            <p:nvPr/>
          </p:nvCxnSpPr>
          <p:spPr>
            <a:xfrm>
              <a:off x="5344937" y="3266292"/>
              <a:ext cx="548640" cy="0"/>
            </a:xfrm>
            <a:prstGeom prst="straightConnector1">
              <a:avLst/>
            </a:prstGeom>
            <a:ln w="38100">
              <a:solidFill>
                <a:schemeClr val="tx1"/>
              </a:solidFill>
              <a:tailEnd type="stealth" w="lg"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7705B1F-8C27-3122-B71F-97B51BFBB974}"/>
                </a:ext>
              </a:extLst>
            </p:cNvPr>
            <p:cNvCxnSpPr>
              <a:cxnSpLocks/>
            </p:cNvCxnSpPr>
            <p:nvPr/>
          </p:nvCxnSpPr>
          <p:spPr>
            <a:xfrm>
              <a:off x="8460382" y="3266292"/>
              <a:ext cx="548640" cy="0"/>
            </a:xfrm>
            <a:prstGeom prst="straightConnector1">
              <a:avLst/>
            </a:prstGeom>
            <a:ln w="38100">
              <a:solidFill>
                <a:schemeClr val="tx1"/>
              </a:solidFill>
              <a:tailEnd type="stealth" w="lg" len="med"/>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34CD37AD-728B-AE23-5356-7AACEA3C0E63}"/>
                </a:ext>
              </a:extLst>
            </p:cNvPr>
            <p:cNvCxnSpPr>
              <a:cxnSpLocks/>
            </p:cNvCxnSpPr>
            <p:nvPr/>
          </p:nvCxnSpPr>
          <p:spPr>
            <a:xfrm flipH="1">
              <a:off x="8009581" y="4877326"/>
              <a:ext cx="548640" cy="0"/>
            </a:xfrm>
            <a:prstGeom prst="straightConnector1">
              <a:avLst/>
            </a:prstGeom>
            <a:ln w="38100">
              <a:solidFill>
                <a:schemeClr val="tx1"/>
              </a:solidFill>
              <a:tailEnd type="stealth" w="lg" len="med"/>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FF1BF015-4453-4055-ABCB-CD0EAC1365DE}"/>
                </a:ext>
              </a:extLst>
            </p:cNvPr>
            <p:cNvSpPr txBox="1"/>
            <p:nvPr/>
          </p:nvSpPr>
          <p:spPr>
            <a:xfrm>
              <a:off x="6219885" y="4646493"/>
              <a:ext cx="1656478" cy="461665"/>
            </a:xfrm>
            <a:prstGeom prst="rect">
              <a:avLst/>
            </a:prstGeom>
            <a:noFill/>
            <a:ln w="28575">
              <a:solidFill>
                <a:schemeClr val="tx1"/>
              </a:solidFill>
            </a:ln>
          </p:spPr>
          <p:txBody>
            <a:bodyPr wrap="square" rtlCol="0">
              <a:spAutoFit/>
            </a:bodyPr>
            <a:lstStyle/>
            <a:p>
              <a:pPr algn="ctr"/>
              <a:r>
                <a:rPr lang="en-US" sz="2400" dirty="0">
                  <a:latin typeface="Lato" panose="020F0502020204030203" pitchFamily="34" charset="0"/>
                  <a:ea typeface="Lato" panose="020F0502020204030203" pitchFamily="34" charset="0"/>
                  <a:cs typeface="Lato" panose="020F0502020204030203" pitchFamily="34" charset="0"/>
                </a:rPr>
                <a:t>Output</a:t>
              </a:r>
            </a:p>
          </p:txBody>
        </p:sp>
      </p:grpSp>
      <p:sp>
        <p:nvSpPr>
          <p:cNvPr id="34" name="TextBox 33">
            <a:extLst>
              <a:ext uri="{FF2B5EF4-FFF2-40B4-BE49-F238E27FC236}">
                <a16:creationId xmlns:a16="http://schemas.microsoft.com/office/drawing/2014/main" id="{8B187C59-A2AC-DF30-694C-DBF0B6617BDF}"/>
              </a:ext>
            </a:extLst>
          </p:cNvPr>
          <p:cNvSpPr txBox="1"/>
          <p:nvPr/>
        </p:nvSpPr>
        <p:spPr>
          <a:xfrm>
            <a:off x="-92855" y="6562469"/>
            <a:ext cx="6537278" cy="307777"/>
          </a:xfrm>
          <a:prstGeom prst="rect">
            <a:avLst/>
          </a:prstGeom>
          <a:noFill/>
        </p:spPr>
        <p:txBody>
          <a:bodyPr wrap="square" rtlCol="0">
            <a:spAutoFit/>
          </a:bodyPr>
          <a:lstStyle/>
          <a:p>
            <a:r>
              <a:rPr lang="en-US" dirty="0">
                <a:latin typeface="Lato" panose="020F0502020204030203" pitchFamily="34" charset="0"/>
                <a:ea typeface="Lato" panose="020F0502020204030203" pitchFamily="34" charset="0"/>
                <a:cs typeface="Lato" panose="020F0502020204030203" pitchFamily="34" charset="0"/>
              </a:rPr>
              <a:t>https://</a:t>
            </a:r>
            <a:r>
              <a:rPr lang="en-US" dirty="0" err="1">
                <a:latin typeface="Lato" panose="020F0502020204030203" pitchFamily="34" charset="0"/>
                <a:ea typeface="Lato" panose="020F0502020204030203" pitchFamily="34" charset="0"/>
                <a:cs typeface="Lato" panose="020F0502020204030203" pitchFamily="34" charset="0"/>
              </a:rPr>
              <a:t>huttenhower.sph.harvard.edu</a:t>
            </a:r>
            <a:r>
              <a:rPr lang="en-US" dirty="0">
                <a:latin typeface="Lato" panose="020F0502020204030203" pitchFamily="34" charset="0"/>
                <a:ea typeface="Lato" panose="020F0502020204030203" pitchFamily="34" charset="0"/>
                <a:cs typeface="Lato" panose="020F0502020204030203" pitchFamily="34" charset="0"/>
              </a:rPr>
              <a:t>/</a:t>
            </a:r>
            <a:r>
              <a:rPr lang="en-US" dirty="0" err="1">
                <a:latin typeface="Lato" panose="020F0502020204030203" pitchFamily="34" charset="0"/>
                <a:ea typeface="Lato" panose="020F0502020204030203" pitchFamily="34" charset="0"/>
                <a:cs typeface="Lato" panose="020F0502020204030203" pitchFamily="34" charset="0"/>
              </a:rPr>
              <a:t>humann</a:t>
            </a:r>
            <a:r>
              <a:rPr lang="en-US" dirty="0">
                <a:latin typeface="Lato" panose="020F0502020204030203" pitchFamily="34" charset="0"/>
                <a:ea typeface="Lato" panose="020F0502020204030203" pitchFamily="34" charset="0"/>
                <a:cs typeface="Lato" panose="020F0502020204030203" pitchFamily="34" charset="0"/>
              </a:rPr>
              <a:t>/</a:t>
            </a:r>
          </a:p>
        </p:txBody>
      </p:sp>
      <p:sp>
        <p:nvSpPr>
          <p:cNvPr id="5" name="TextBox 4">
            <a:extLst>
              <a:ext uri="{FF2B5EF4-FFF2-40B4-BE49-F238E27FC236}">
                <a16:creationId xmlns:a16="http://schemas.microsoft.com/office/drawing/2014/main" id="{26F0D4F4-3936-4199-BBFC-B0B2AFF20D10}"/>
              </a:ext>
            </a:extLst>
          </p:cNvPr>
          <p:cNvSpPr txBox="1"/>
          <p:nvPr/>
        </p:nvSpPr>
        <p:spPr>
          <a:xfrm>
            <a:off x="3305099" y="2119855"/>
            <a:ext cx="2157550" cy="461665"/>
          </a:xfrm>
          <a:prstGeom prst="rect">
            <a:avLst/>
          </a:prstGeom>
          <a:noFill/>
        </p:spPr>
        <p:txBody>
          <a:bodyPr wrap="square" rtlCol="0">
            <a:spAutoFit/>
          </a:bodyPr>
          <a:lstStyle/>
          <a:p>
            <a:pPr algn="ctr"/>
            <a:r>
              <a:rPr lang="en-US" sz="2400" b="1" dirty="0">
                <a:solidFill>
                  <a:schemeClr val="accent3">
                    <a:lumMod val="75000"/>
                  </a:schemeClr>
                </a:solidFill>
                <a:latin typeface="Lato" panose="020F0502020204030203" pitchFamily="34" charset="0"/>
                <a:ea typeface="Lato" panose="020F0502020204030203" pitchFamily="34" charset="0"/>
                <a:cs typeface="Lato" panose="020F0502020204030203" pitchFamily="34" charset="0"/>
              </a:rPr>
              <a:t>MetaPhlAn</a:t>
            </a:r>
            <a:endParaRPr lang="en-US" sz="2400" dirty="0">
              <a:solidFill>
                <a:schemeClr val="accent3">
                  <a:lumMod val="75000"/>
                </a:schemeClr>
              </a:solidFill>
              <a:latin typeface="Lato" panose="020F0502020204030203"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94C27E65-1E8D-6025-BBC2-4D2AD94D6DBD}"/>
              </a:ext>
            </a:extLst>
          </p:cNvPr>
          <p:cNvSpPr txBox="1"/>
          <p:nvPr/>
        </p:nvSpPr>
        <p:spPr>
          <a:xfrm>
            <a:off x="6282013" y="2119855"/>
            <a:ext cx="1537607" cy="461665"/>
          </a:xfrm>
          <a:prstGeom prst="rect">
            <a:avLst/>
          </a:prstGeom>
          <a:noFill/>
        </p:spPr>
        <p:txBody>
          <a:bodyPr wrap="square">
            <a:spAutoFit/>
          </a:bodyPr>
          <a:lstStyle/>
          <a:p>
            <a:pPr algn="ctr"/>
            <a:r>
              <a:rPr lang="en-US" sz="2400" b="1" dirty="0">
                <a:solidFill>
                  <a:schemeClr val="accent3">
                    <a:lumMod val="75000"/>
                  </a:schemeClr>
                </a:solidFill>
                <a:latin typeface="Lato" panose="020F0502020204030203" pitchFamily="34" charset="0"/>
                <a:ea typeface="Lato" panose="020F0502020204030203" pitchFamily="34" charset="0"/>
                <a:cs typeface="Lato" panose="020F0502020204030203" pitchFamily="34" charset="0"/>
              </a:rPr>
              <a:t>Bowtie2</a:t>
            </a:r>
            <a:endParaRPr lang="en-US" sz="2400" dirty="0">
              <a:solidFill>
                <a:schemeClr val="accent3">
                  <a:lumMod val="75000"/>
                </a:schemeClr>
              </a:solidFill>
              <a:latin typeface="Lato" panose="020F0502020204030203" pitchFamily="34" charset="0"/>
              <a:ea typeface="Lato" panose="020F0502020204030203" pitchFamily="34" charset="0"/>
              <a:cs typeface="Lato" panose="020F0502020204030203" pitchFamily="34" charset="0"/>
            </a:endParaRPr>
          </a:p>
        </p:txBody>
      </p:sp>
      <p:sp>
        <p:nvSpPr>
          <p:cNvPr id="15" name="TextBox 14">
            <a:extLst>
              <a:ext uri="{FF2B5EF4-FFF2-40B4-BE49-F238E27FC236}">
                <a16:creationId xmlns:a16="http://schemas.microsoft.com/office/drawing/2014/main" id="{DDEEF078-9325-81F0-CCCF-68DAFA64D0C6}"/>
              </a:ext>
            </a:extLst>
          </p:cNvPr>
          <p:cNvSpPr txBox="1"/>
          <p:nvPr/>
        </p:nvSpPr>
        <p:spPr>
          <a:xfrm>
            <a:off x="8975787" y="2119855"/>
            <a:ext cx="1762195" cy="461665"/>
          </a:xfrm>
          <a:prstGeom prst="rect">
            <a:avLst/>
          </a:prstGeom>
          <a:noFill/>
        </p:spPr>
        <p:txBody>
          <a:bodyPr wrap="square">
            <a:spAutoFit/>
          </a:bodyPr>
          <a:lstStyle/>
          <a:p>
            <a:r>
              <a:rPr lang="en-US" sz="2400" b="1" dirty="0">
                <a:solidFill>
                  <a:schemeClr val="accent3">
                    <a:lumMod val="75000"/>
                  </a:schemeClr>
                </a:solidFill>
                <a:latin typeface="Lato" panose="020F0502020204030203" pitchFamily="34" charset="0"/>
                <a:ea typeface="Lato" panose="020F0502020204030203" pitchFamily="34" charset="0"/>
                <a:cs typeface="Lato" panose="020F0502020204030203" pitchFamily="34" charset="0"/>
              </a:rPr>
              <a:t>DIAMOND</a:t>
            </a:r>
            <a:endParaRPr lang="en-US" sz="2400" dirty="0">
              <a:solidFill>
                <a:schemeClr val="accent3">
                  <a:lumMod val="75000"/>
                </a:schemeClr>
              </a:solidFill>
              <a:latin typeface="Lato" panose="020F0502020204030203" pitchFamily="34" charset="0"/>
              <a:ea typeface="Lato" panose="020F0502020204030203" pitchFamily="34" charset="0"/>
              <a:cs typeface="Lato" panose="020F0502020204030203" pitchFamily="34" charset="0"/>
            </a:endParaRPr>
          </a:p>
        </p:txBody>
      </p:sp>
      <p:sp>
        <p:nvSpPr>
          <p:cNvPr id="16" name="TextBox 15">
            <a:extLst>
              <a:ext uri="{FF2B5EF4-FFF2-40B4-BE49-F238E27FC236}">
                <a16:creationId xmlns:a16="http://schemas.microsoft.com/office/drawing/2014/main" id="{DA991A43-CD98-E7A0-351A-D2BC31AC4928}"/>
              </a:ext>
            </a:extLst>
          </p:cNvPr>
          <p:cNvSpPr txBox="1"/>
          <p:nvPr/>
        </p:nvSpPr>
        <p:spPr>
          <a:xfrm>
            <a:off x="9158813" y="5508499"/>
            <a:ext cx="1504407" cy="461665"/>
          </a:xfrm>
          <a:prstGeom prst="rect">
            <a:avLst/>
          </a:prstGeom>
          <a:noFill/>
        </p:spPr>
        <p:txBody>
          <a:bodyPr wrap="square" rtlCol="0">
            <a:spAutoFit/>
          </a:bodyPr>
          <a:lstStyle/>
          <a:p>
            <a:pPr algn="ctr"/>
            <a:r>
              <a:rPr lang="en-US" sz="2400" b="1" dirty="0" err="1">
                <a:solidFill>
                  <a:schemeClr val="accent3">
                    <a:lumMod val="75000"/>
                  </a:schemeClr>
                </a:solidFill>
                <a:latin typeface="Lato" panose="020F0502020204030203" pitchFamily="34" charset="0"/>
                <a:ea typeface="Lato" panose="020F0502020204030203" pitchFamily="34" charset="0"/>
                <a:cs typeface="Lato" panose="020F0502020204030203" pitchFamily="34" charset="0"/>
              </a:rPr>
              <a:t>MinPath</a:t>
            </a:r>
            <a:endParaRPr lang="en-US" sz="2400" dirty="0">
              <a:solidFill>
                <a:schemeClr val="accent3">
                  <a:lumMod val="75000"/>
                </a:schemeClr>
              </a:solidFill>
              <a:latin typeface="Lato" panose="020F0502020204030203" pitchFamily="34" charset="0"/>
              <a:ea typeface="Lato" panose="020F0502020204030203" pitchFamily="34" charset="0"/>
              <a:cs typeface="Lato" panose="020F0502020204030203" pitchFamily="34" charset="0"/>
            </a:endParaRPr>
          </a:p>
        </p:txBody>
      </p:sp>
      <p:cxnSp>
        <p:nvCxnSpPr>
          <p:cNvPr id="36" name="Straight Arrow Connector 35">
            <a:extLst>
              <a:ext uri="{FF2B5EF4-FFF2-40B4-BE49-F238E27FC236}">
                <a16:creationId xmlns:a16="http://schemas.microsoft.com/office/drawing/2014/main" id="{4D44E99E-DBFE-5C26-40A9-A768770A8ED9}"/>
              </a:ext>
            </a:extLst>
          </p:cNvPr>
          <p:cNvCxnSpPr>
            <a:cxnSpLocks/>
          </p:cNvCxnSpPr>
          <p:nvPr/>
        </p:nvCxnSpPr>
        <p:spPr>
          <a:xfrm>
            <a:off x="5369394" y="2350687"/>
            <a:ext cx="850491" cy="0"/>
          </a:xfrm>
          <a:prstGeom prst="straightConnector1">
            <a:avLst/>
          </a:prstGeom>
          <a:ln w="38100">
            <a:solidFill>
              <a:schemeClr val="accent3">
                <a:lumMod val="75000"/>
              </a:schemeClr>
            </a:solidFill>
            <a:tailEnd type="stealth" w="lg" len="med"/>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6FE0AE63-C927-4D9D-B655-B43B83AE2998}"/>
              </a:ext>
            </a:extLst>
          </p:cNvPr>
          <p:cNvCxnSpPr>
            <a:cxnSpLocks/>
          </p:cNvCxnSpPr>
          <p:nvPr/>
        </p:nvCxnSpPr>
        <p:spPr>
          <a:xfrm>
            <a:off x="8035136" y="2350687"/>
            <a:ext cx="850491" cy="0"/>
          </a:xfrm>
          <a:prstGeom prst="straightConnector1">
            <a:avLst/>
          </a:prstGeom>
          <a:ln w="38100">
            <a:solidFill>
              <a:schemeClr val="accent3">
                <a:lumMod val="75000"/>
              </a:schemeClr>
            </a:solidFill>
            <a:tailEnd type="stealth" w="lg" len="med"/>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6764D54D-3F89-1768-E07D-6C626A07006D}"/>
              </a:ext>
            </a:extLst>
          </p:cNvPr>
          <p:cNvCxnSpPr>
            <a:cxnSpLocks/>
          </p:cNvCxnSpPr>
          <p:nvPr/>
        </p:nvCxnSpPr>
        <p:spPr>
          <a:xfrm flipH="1">
            <a:off x="8017563" y="5739331"/>
            <a:ext cx="958224" cy="0"/>
          </a:xfrm>
          <a:prstGeom prst="straightConnector1">
            <a:avLst/>
          </a:prstGeom>
          <a:ln w="38100">
            <a:solidFill>
              <a:schemeClr val="accent3">
                <a:lumMod val="75000"/>
              </a:schemeClr>
            </a:solidFill>
            <a:tailEnd type="stealth" w="lg" len="med"/>
          </a:ln>
        </p:spPr>
        <p:style>
          <a:lnRef idx="2">
            <a:schemeClr val="accent1"/>
          </a:lnRef>
          <a:fillRef idx="0">
            <a:schemeClr val="accent1"/>
          </a:fillRef>
          <a:effectRef idx="1">
            <a:schemeClr val="accent1"/>
          </a:effectRef>
          <a:fontRef idx="minor">
            <a:schemeClr val="tx1"/>
          </a:fontRef>
        </p:style>
      </p:cxnSp>
      <p:pic>
        <p:nvPicPr>
          <p:cNvPr id="47" name="Picture 46" descr="A computer screen with green text&#10;&#10;Description automatically generated">
            <a:extLst>
              <a:ext uri="{FF2B5EF4-FFF2-40B4-BE49-F238E27FC236}">
                <a16:creationId xmlns:a16="http://schemas.microsoft.com/office/drawing/2014/main" id="{1568448F-EA1B-BE8E-AFAC-6439EFA0C560}"/>
              </a:ext>
            </a:extLst>
          </p:cNvPr>
          <p:cNvPicPr>
            <a:picLocks noChangeAspect="1"/>
          </p:cNvPicPr>
          <p:nvPr/>
        </p:nvPicPr>
        <p:blipFill>
          <a:blip r:embed="rId3"/>
          <a:srcRect l="1" t="1" r="25853" b="56029"/>
          <a:stretch>
            <a:fillRect/>
          </a:stretch>
        </p:blipFill>
        <p:spPr>
          <a:xfrm>
            <a:off x="609989" y="1981416"/>
            <a:ext cx="2157550" cy="738543"/>
          </a:xfrm>
          <a:prstGeom prst="rect">
            <a:avLst/>
          </a:prstGeom>
          <a:ln w="28575">
            <a:solidFill>
              <a:schemeClr val="tx1"/>
            </a:solidFill>
          </a:ln>
        </p:spPr>
      </p:pic>
      <p:cxnSp>
        <p:nvCxnSpPr>
          <p:cNvPr id="48" name="Straight Arrow Connector 47">
            <a:extLst>
              <a:ext uri="{FF2B5EF4-FFF2-40B4-BE49-F238E27FC236}">
                <a16:creationId xmlns:a16="http://schemas.microsoft.com/office/drawing/2014/main" id="{C49642D1-1EB3-1794-259B-CDCD02A44FE5}"/>
              </a:ext>
            </a:extLst>
          </p:cNvPr>
          <p:cNvCxnSpPr>
            <a:cxnSpLocks/>
          </p:cNvCxnSpPr>
          <p:nvPr/>
        </p:nvCxnSpPr>
        <p:spPr>
          <a:xfrm flipV="1">
            <a:off x="2894134" y="2350687"/>
            <a:ext cx="467787" cy="1"/>
          </a:xfrm>
          <a:prstGeom prst="straightConnector1">
            <a:avLst/>
          </a:prstGeom>
          <a:ln w="38100">
            <a:solidFill>
              <a:schemeClr val="accent3">
                <a:lumMod val="75000"/>
              </a:schemeClr>
            </a:solidFill>
            <a:tailEnd type="stealth" w="lg" len="med"/>
          </a:ln>
        </p:spPr>
        <p:style>
          <a:lnRef idx="2">
            <a:schemeClr val="accent1"/>
          </a:lnRef>
          <a:fillRef idx="0">
            <a:schemeClr val="accent1"/>
          </a:fillRef>
          <a:effectRef idx="1">
            <a:schemeClr val="accent1"/>
          </a:effectRef>
          <a:fontRef idx="minor">
            <a:schemeClr val="tx1"/>
          </a:fontRef>
        </p:style>
      </p:cxnSp>
      <p:cxnSp>
        <p:nvCxnSpPr>
          <p:cNvPr id="56" name="Elbow Connector 55">
            <a:extLst>
              <a:ext uri="{FF2B5EF4-FFF2-40B4-BE49-F238E27FC236}">
                <a16:creationId xmlns:a16="http://schemas.microsoft.com/office/drawing/2014/main" id="{542E3D6E-5B5F-4F7C-6254-458311678783}"/>
              </a:ext>
            </a:extLst>
          </p:cNvPr>
          <p:cNvCxnSpPr>
            <a:cxnSpLocks/>
            <a:stCxn id="15" idx="3"/>
            <a:endCxn id="16" idx="3"/>
          </p:cNvCxnSpPr>
          <p:nvPr/>
        </p:nvCxnSpPr>
        <p:spPr>
          <a:xfrm flipH="1">
            <a:off x="10663220" y="2350688"/>
            <a:ext cx="74762" cy="3388644"/>
          </a:xfrm>
          <a:prstGeom prst="bentConnector3">
            <a:avLst>
              <a:gd name="adj1" fmla="val -837546"/>
            </a:avLst>
          </a:prstGeom>
          <a:ln w="38100">
            <a:solidFill>
              <a:schemeClr val="accent3">
                <a:lumMod val="75000"/>
              </a:schemeClr>
            </a:solidFill>
            <a:tailEnd type="stealth" w="lg" len="med"/>
          </a:ln>
        </p:spPr>
        <p:style>
          <a:lnRef idx="2">
            <a:schemeClr val="accent1"/>
          </a:lnRef>
          <a:fillRef idx="0">
            <a:schemeClr val="accent1"/>
          </a:fillRef>
          <a:effectRef idx="1">
            <a:schemeClr val="accent1"/>
          </a:effectRef>
          <a:fontRef idx="minor">
            <a:schemeClr val="tx1"/>
          </a:fontRef>
        </p:style>
      </p:cxnSp>
      <p:pic>
        <p:nvPicPr>
          <p:cNvPr id="1026" name="Picture 2" descr="TSV Icons - Free SVG &amp; PNG TSV Images - Noun Project">
            <a:extLst>
              <a:ext uri="{FF2B5EF4-FFF2-40B4-BE49-F238E27FC236}">
                <a16:creationId xmlns:a16="http://schemas.microsoft.com/office/drawing/2014/main" id="{E42740AD-215A-BA30-F1D3-6D8F18B9C5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1396" y="5216762"/>
            <a:ext cx="958224" cy="958224"/>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 descr="TSV Icons - Free SVG &amp; PNG TSV Images - Noun Project">
            <a:extLst>
              <a:ext uri="{FF2B5EF4-FFF2-40B4-BE49-F238E27FC236}">
                <a16:creationId xmlns:a16="http://schemas.microsoft.com/office/drawing/2014/main" id="{70C2CB92-A73E-B48F-9727-9779FF9889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5216762"/>
            <a:ext cx="958224" cy="958224"/>
          </a:xfrm>
          <a:prstGeom prst="rect">
            <a:avLst/>
          </a:prstGeom>
          <a:noFill/>
          <a:extLst>
            <a:ext uri="{909E8E84-426E-40DD-AFC4-6F175D3DCCD1}">
              <a14:hiddenFill xmlns:a14="http://schemas.microsoft.com/office/drawing/2010/main">
                <a:solidFill>
                  <a:srgbClr val="FFFFFF"/>
                </a:solidFill>
              </a14:hiddenFill>
            </a:ext>
          </a:extLst>
        </p:spPr>
      </p:pic>
      <p:sp>
        <p:nvSpPr>
          <p:cNvPr id="69" name="TextBox 68">
            <a:extLst>
              <a:ext uri="{FF2B5EF4-FFF2-40B4-BE49-F238E27FC236}">
                <a16:creationId xmlns:a16="http://schemas.microsoft.com/office/drawing/2014/main" id="{2192E16D-09B1-AAE7-6C32-6317AB84DBB0}"/>
              </a:ext>
            </a:extLst>
          </p:cNvPr>
          <p:cNvSpPr txBox="1"/>
          <p:nvPr/>
        </p:nvSpPr>
        <p:spPr>
          <a:xfrm>
            <a:off x="1064338" y="3965844"/>
            <a:ext cx="3135739" cy="769441"/>
          </a:xfrm>
          <a:prstGeom prst="rect">
            <a:avLst/>
          </a:prstGeom>
          <a:noFill/>
        </p:spPr>
        <p:txBody>
          <a:bodyPr wrap="square">
            <a:spAutoFit/>
          </a:bodyPr>
          <a:lstStyle/>
          <a:p>
            <a:r>
              <a:rPr lang="en-US" sz="4400" b="1" dirty="0">
                <a:solidFill>
                  <a:schemeClr val="accent3">
                    <a:lumMod val="75000"/>
                  </a:schemeClr>
                </a:solidFill>
                <a:latin typeface="Lato" panose="020F0502020204030203" pitchFamily="34" charset="0"/>
                <a:ea typeface="Lato" panose="020F0502020204030203" pitchFamily="34" charset="0"/>
                <a:cs typeface="Lato" panose="020F0502020204030203" pitchFamily="34" charset="0"/>
              </a:rPr>
              <a:t>HUMAnN3</a:t>
            </a:r>
          </a:p>
        </p:txBody>
      </p:sp>
      <p:pic>
        <p:nvPicPr>
          <p:cNvPr id="75" name="Picture 74" descr="A screenshot of a computer&#10;&#10;AI-generated content may be incorrect.">
            <a:extLst>
              <a:ext uri="{FF2B5EF4-FFF2-40B4-BE49-F238E27FC236}">
                <a16:creationId xmlns:a16="http://schemas.microsoft.com/office/drawing/2014/main" id="{DC9AF8D6-B7BD-2BEC-113A-0419E9946454}"/>
              </a:ext>
            </a:extLst>
          </p:cNvPr>
          <p:cNvPicPr>
            <a:picLocks noChangeAspect="1"/>
          </p:cNvPicPr>
          <p:nvPr/>
        </p:nvPicPr>
        <p:blipFill>
          <a:blip r:embed="rId5"/>
          <a:stretch>
            <a:fillRect/>
          </a:stretch>
        </p:blipFill>
        <p:spPr>
          <a:xfrm>
            <a:off x="450226" y="4599439"/>
            <a:ext cx="3822186" cy="1995158"/>
          </a:xfrm>
          <a:prstGeom prst="rect">
            <a:avLst/>
          </a:prstGeom>
        </p:spPr>
      </p:pic>
      <p:sp>
        <p:nvSpPr>
          <p:cNvPr id="2" name="Google Shape;150;p18">
            <a:extLst>
              <a:ext uri="{FF2B5EF4-FFF2-40B4-BE49-F238E27FC236}">
                <a16:creationId xmlns:a16="http://schemas.microsoft.com/office/drawing/2014/main" id="{78BF897D-6333-230B-0687-2EAEEAA7F8FA}"/>
              </a:ext>
            </a:extLst>
          </p:cNvPr>
          <p:cNvSpPr txBox="1"/>
          <p:nvPr/>
        </p:nvSpPr>
        <p:spPr>
          <a:xfrm>
            <a:off x="762000" y="919311"/>
            <a:ext cx="114014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dirty="0">
                <a:solidFill>
                  <a:srgbClr val="1E293B"/>
                </a:solidFill>
                <a:latin typeface="Poppins SemiBold"/>
                <a:ea typeface="Poppins SemiBold"/>
                <a:cs typeface="Poppins SemiBold"/>
                <a:sym typeface="Poppins SemiBold"/>
              </a:rPr>
              <a:t>Example: Metagenomics </a:t>
            </a:r>
            <a:r>
              <a:rPr lang="en-US" sz="3600" dirty="0">
                <a:solidFill>
                  <a:srgbClr val="1E293B"/>
                </a:solidFill>
                <a:latin typeface="Poppins SemiBold"/>
                <a:ea typeface="Poppins SemiBold"/>
                <a:cs typeface="Poppins SemiBold"/>
                <a:sym typeface="Poppins SemiBold"/>
              </a:rPr>
              <a:t>Analysis</a:t>
            </a:r>
            <a:endParaRPr sz="1600" dirty="0"/>
          </a:p>
        </p:txBody>
      </p:sp>
      <p:sp>
        <p:nvSpPr>
          <p:cNvPr id="3" name="Google Shape;151;p18">
            <a:extLst>
              <a:ext uri="{FF2B5EF4-FFF2-40B4-BE49-F238E27FC236}">
                <a16:creationId xmlns:a16="http://schemas.microsoft.com/office/drawing/2014/main" id="{9EA13C9B-81FD-CE81-C85C-6E5F49398B50}"/>
              </a:ext>
            </a:extLst>
          </p:cNvPr>
          <p:cNvSpPr/>
          <p:nvPr/>
        </p:nvSpPr>
        <p:spPr>
          <a:xfrm>
            <a:off x="571500" y="919311"/>
            <a:ext cx="76200" cy="619125"/>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92603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5"/>
        <p:cNvGrpSpPr/>
        <p:nvPr/>
      </p:nvGrpSpPr>
      <p:grpSpPr>
        <a:xfrm>
          <a:off x="0" y="0"/>
          <a:ext cx="0" cy="0"/>
          <a:chOff x="0" y="0"/>
          <a:chExt cx="0" cy="0"/>
        </a:xfrm>
      </p:grpSpPr>
      <p:pic>
        <p:nvPicPr>
          <p:cNvPr id="156" name="Google Shape;156;p19" descr="image.png"/>
          <p:cNvPicPr preferRelativeResize="0"/>
          <p:nvPr/>
        </p:nvPicPr>
        <p:blipFill rotWithShape="1">
          <a:blip r:embed="rId3">
            <a:alphaModFix/>
          </a:blip>
          <a:srcRect/>
          <a:stretch/>
        </p:blipFill>
        <p:spPr>
          <a:xfrm>
            <a:off x="0" y="393426"/>
            <a:ext cx="12192000" cy="6858000"/>
          </a:xfrm>
          <a:prstGeom prst="rect">
            <a:avLst/>
          </a:prstGeom>
          <a:noFill/>
          <a:ln>
            <a:noFill/>
          </a:ln>
        </p:spPr>
      </p:pic>
      <p:sp>
        <p:nvSpPr>
          <p:cNvPr id="157" name="Google Shape;157;p19"/>
          <p:cNvSpPr txBox="1"/>
          <p:nvPr/>
        </p:nvSpPr>
        <p:spPr>
          <a:xfrm>
            <a:off x="762000" y="919311"/>
            <a:ext cx="5000625"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dirty="0">
                <a:solidFill>
                  <a:srgbClr val="1E293B"/>
                </a:solidFill>
                <a:latin typeface="Poppins SemiBold"/>
                <a:ea typeface="Poppins SemiBold"/>
                <a:cs typeface="Poppins SemiBold"/>
                <a:sym typeface="Poppins SemiBold"/>
              </a:rPr>
              <a:t>Containers</a:t>
            </a:r>
            <a:endParaRPr dirty="0"/>
          </a:p>
        </p:txBody>
      </p:sp>
      <p:sp>
        <p:nvSpPr>
          <p:cNvPr id="158" name="Google Shape;158;p19"/>
          <p:cNvSpPr/>
          <p:nvPr/>
        </p:nvSpPr>
        <p:spPr>
          <a:xfrm>
            <a:off x="571500" y="919311"/>
            <a:ext cx="76200" cy="619125"/>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9" name="Google Shape;159;p19"/>
          <p:cNvSpPr txBox="1"/>
          <p:nvPr/>
        </p:nvSpPr>
        <p:spPr>
          <a:xfrm>
            <a:off x="571500" y="1919436"/>
            <a:ext cx="5200650"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i="0" u="none" strike="noStrike" cap="none" dirty="0">
                <a:solidFill>
                  <a:srgbClr val="2563EB"/>
                </a:solidFill>
                <a:latin typeface="Poppins SemiBold"/>
                <a:ea typeface="Lato" panose="020F0502020204030203" pitchFamily="34" charset="0"/>
                <a:cs typeface="Poppins SemiBold"/>
                <a:sym typeface="Poppins SemiBold"/>
              </a:rPr>
              <a:t>Keeping things constant!</a:t>
            </a:r>
            <a:endParaRPr sz="1600" dirty="0"/>
          </a:p>
        </p:txBody>
      </p:sp>
      <p:sp>
        <p:nvSpPr>
          <p:cNvPr id="160" name="Google Shape;160;p19"/>
          <p:cNvSpPr txBox="1"/>
          <p:nvPr/>
        </p:nvSpPr>
        <p:spPr>
          <a:xfrm>
            <a:off x="571500" y="2743749"/>
            <a:ext cx="5396163" cy="3619452"/>
          </a:xfrm>
          <a:prstGeom prst="rect">
            <a:avLst/>
          </a:prstGeom>
          <a:noFill/>
          <a:ln>
            <a:noFill/>
          </a:ln>
        </p:spPr>
        <p:txBody>
          <a:bodyPr spcFirstLastPara="1" wrap="square" lIns="0" tIns="0" rIns="0" bIns="0" anchor="t" anchorCtr="0">
            <a:spAutoFit/>
          </a:bodyPr>
          <a:lstStyle/>
          <a:p>
            <a:pPr marL="342900" marR="0" lvl="0" indent="-342900" algn="l" rtl="0">
              <a:lnSpc>
                <a:spcPct val="140000"/>
              </a:lnSpc>
              <a:spcBef>
                <a:spcPts val="0"/>
              </a:spcBef>
              <a:spcAft>
                <a:spcPts val="0"/>
              </a:spcAft>
              <a:buFont typeface="Wingdings" pitchFamily="2" charset="2"/>
              <a:buChar char="§"/>
            </a:pPr>
            <a:r>
              <a:rPr lang="en-US" sz="2400" b="0" i="0" u="none" strike="noStrike" cap="none" dirty="0">
                <a:solidFill>
                  <a:srgbClr val="475569"/>
                </a:solidFill>
                <a:latin typeface="Lato"/>
                <a:ea typeface="Lato"/>
                <a:cs typeface="Lato"/>
                <a:sym typeface="Lato"/>
              </a:rPr>
              <a:t>Self-contained, executable packages that bundle code, libraries, and settings.</a:t>
            </a:r>
          </a:p>
          <a:p>
            <a:pPr marL="342900" indent="-342900">
              <a:lnSpc>
                <a:spcPct val="140000"/>
              </a:lnSpc>
              <a:buFont typeface="Wingdings" pitchFamily="2" charset="2"/>
              <a:buChar char="§"/>
            </a:pPr>
            <a:r>
              <a:rPr lang="en-US" sz="2400" dirty="0">
                <a:solidFill>
                  <a:srgbClr val="475569"/>
                </a:solidFill>
                <a:latin typeface="Lato"/>
                <a:ea typeface="Lato"/>
                <a:cs typeface="Lato"/>
                <a:sym typeface="Lato"/>
              </a:rPr>
              <a:t>Containers </a:t>
            </a:r>
            <a:r>
              <a:rPr lang="en-US" sz="2400" b="1" dirty="0">
                <a:solidFill>
                  <a:srgbClr val="475569"/>
                </a:solidFill>
                <a:latin typeface="Lato"/>
                <a:ea typeface="Lato"/>
                <a:cs typeface="Lato"/>
                <a:sym typeface="Lato"/>
              </a:rPr>
              <a:t>solve the "dependency hell" problem</a:t>
            </a:r>
            <a:r>
              <a:rPr lang="en-US" sz="2400" dirty="0">
                <a:solidFill>
                  <a:srgbClr val="475569"/>
                </a:solidFill>
                <a:latin typeface="Lato"/>
                <a:ea typeface="Lato"/>
                <a:cs typeface="Lato"/>
                <a:sym typeface="Lato"/>
              </a:rPr>
              <a:t> by ensuring your analysis runs identically, anywhere, anytime.</a:t>
            </a:r>
          </a:p>
        </p:txBody>
      </p:sp>
      <p:pic>
        <p:nvPicPr>
          <p:cNvPr id="162" name="Google Shape;162;p19" descr="image.png"/>
          <p:cNvPicPr preferRelativeResize="0"/>
          <p:nvPr/>
        </p:nvPicPr>
        <p:blipFill rotWithShape="1">
          <a:blip r:embed="rId4">
            <a:alphaModFix/>
          </a:blip>
          <a:srcRect/>
          <a:stretch/>
        </p:blipFill>
        <p:spPr>
          <a:xfrm>
            <a:off x="6096000" y="0"/>
            <a:ext cx="6096000"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6"/>
        <p:cNvGrpSpPr/>
        <p:nvPr/>
      </p:nvGrpSpPr>
      <p:grpSpPr>
        <a:xfrm>
          <a:off x="0" y="0"/>
          <a:ext cx="0" cy="0"/>
          <a:chOff x="0" y="0"/>
          <a:chExt cx="0" cy="0"/>
        </a:xfrm>
      </p:grpSpPr>
      <p:pic>
        <p:nvPicPr>
          <p:cNvPr id="168" name="Google Shape;168;p20" descr="image.png"/>
          <p:cNvPicPr preferRelativeResize="0"/>
          <p:nvPr/>
        </p:nvPicPr>
        <p:blipFill rotWithShape="1">
          <a:blip r:embed="rId3">
            <a:alphaModFix/>
          </a:blip>
          <a:srcRect/>
          <a:stretch/>
        </p:blipFill>
        <p:spPr>
          <a:xfrm>
            <a:off x="571500" y="2410420"/>
            <a:ext cx="5286375" cy="3385095"/>
          </a:xfrm>
          <a:prstGeom prst="rect">
            <a:avLst/>
          </a:prstGeom>
          <a:noFill/>
          <a:ln>
            <a:noFill/>
          </a:ln>
        </p:spPr>
      </p:pic>
      <p:pic>
        <p:nvPicPr>
          <p:cNvPr id="169" name="Google Shape;169;p20" descr="image.png"/>
          <p:cNvPicPr preferRelativeResize="0"/>
          <p:nvPr/>
        </p:nvPicPr>
        <p:blipFill rotWithShape="1">
          <a:blip r:embed="rId3">
            <a:alphaModFix/>
          </a:blip>
          <a:srcRect/>
          <a:stretch/>
        </p:blipFill>
        <p:spPr>
          <a:xfrm>
            <a:off x="6334125" y="2410420"/>
            <a:ext cx="5286375" cy="3385095"/>
          </a:xfrm>
          <a:prstGeom prst="rect">
            <a:avLst/>
          </a:prstGeom>
          <a:noFill/>
          <a:ln>
            <a:noFill/>
          </a:ln>
        </p:spPr>
      </p:pic>
      <p:sp>
        <p:nvSpPr>
          <p:cNvPr id="170" name="Google Shape;170;p20"/>
          <p:cNvSpPr txBox="1"/>
          <p:nvPr/>
        </p:nvSpPr>
        <p:spPr>
          <a:xfrm>
            <a:off x="1537035" y="2874882"/>
            <a:ext cx="2370722"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1" i="0" u="none" strike="noStrike" cap="none" dirty="0">
                <a:solidFill>
                  <a:srgbClr val="2563EB"/>
                </a:solidFill>
                <a:latin typeface="Lato" panose="020F0502020204030203" pitchFamily="34" charset="0"/>
                <a:ea typeface="Lato" panose="020F0502020204030203" pitchFamily="34" charset="0"/>
                <a:cs typeface="Lato" panose="020F0502020204030203" pitchFamily="34" charset="0"/>
                <a:sym typeface="Poppins SemiBold"/>
              </a:rPr>
              <a:t>Docker</a:t>
            </a:r>
            <a:endParaRPr sz="1600" b="1" dirty="0">
              <a:latin typeface="Lato" panose="020F0502020204030203" pitchFamily="34" charset="0"/>
              <a:ea typeface="Lato" panose="020F0502020204030203" pitchFamily="34" charset="0"/>
              <a:cs typeface="Lato" panose="020F0502020204030203" pitchFamily="34" charset="0"/>
            </a:endParaRPr>
          </a:p>
        </p:txBody>
      </p:sp>
      <p:sp>
        <p:nvSpPr>
          <p:cNvPr id="171" name="Google Shape;171;p20"/>
          <p:cNvSpPr txBox="1"/>
          <p:nvPr/>
        </p:nvSpPr>
        <p:spPr>
          <a:xfrm>
            <a:off x="717132" y="3688867"/>
            <a:ext cx="5091363" cy="2068259"/>
          </a:xfrm>
          <a:prstGeom prst="rect">
            <a:avLst/>
          </a:prstGeom>
          <a:noFill/>
          <a:ln>
            <a:noFill/>
          </a:ln>
        </p:spPr>
        <p:txBody>
          <a:bodyPr spcFirstLastPara="1" wrap="square" lIns="0" tIns="0" rIns="0" bIns="0" anchor="t" anchorCtr="0">
            <a:spAutoFit/>
          </a:bodyPr>
          <a:lstStyle/>
          <a:p>
            <a:pPr marL="0" marR="0" lvl="0" indent="0" rtl="0">
              <a:lnSpc>
                <a:spcPct val="140000"/>
              </a:lnSpc>
              <a:spcBef>
                <a:spcPts val="0"/>
              </a:spcBef>
              <a:spcAft>
                <a:spcPts val="0"/>
              </a:spcAft>
              <a:buNone/>
            </a:pPr>
            <a:r>
              <a:rPr lang="en-US" sz="2400" b="0" i="0" u="none" strike="noStrike" cap="none" dirty="0">
                <a:solidFill>
                  <a:srgbClr val="475569"/>
                </a:solidFill>
                <a:latin typeface="Lato" panose="020F0502020204030203" pitchFamily="34" charset="0"/>
                <a:ea typeface="Lato" panose="020F0502020204030203" pitchFamily="34" charset="0"/>
                <a:cs typeface="Lato" panose="020F0502020204030203" pitchFamily="34" charset="0"/>
                <a:sym typeface="Lato"/>
              </a:rPr>
              <a:t>The most widely used platform for developing and running apps in isolated environments. Ideal for local and cloud work.</a:t>
            </a:r>
            <a:endParaRPr sz="2000" dirty="0">
              <a:latin typeface="Lato" panose="020F0502020204030203" pitchFamily="34" charset="0"/>
              <a:ea typeface="Lato" panose="020F0502020204030203" pitchFamily="34" charset="0"/>
              <a:cs typeface="Lato" panose="020F0502020204030203" pitchFamily="34" charset="0"/>
            </a:endParaRPr>
          </a:p>
        </p:txBody>
      </p:sp>
      <p:sp>
        <p:nvSpPr>
          <p:cNvPr id="172" name="Google Shape;172;p20"/>
          <p:cNvSpPr txBox="1"/>
          <p:nvPr/>
        </p:nvSpPr>
        <p:spPr>
          <a:xfrm>
            <a:off x="7366159" y="2866268"/>
            <a:ext cx="4730591"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1" i="0" u="none" strike="noStrike" cap="none" dirty="0">
                <a:solidFill>
                  <a:srgbClr val="2563EB"/>
                </a:solidFill>
                <a:latin typeface="Lato" panose="020F0502020204030203" pitchFamily="34" charset="0"/>
                <a:ea typeface="Lato" panose="020F0502020204030203" pitchFamily="34" charset="0"/>
                <a:cs typeface="Lato" panose="020F0502020204030203" pitchFamily="34" charset="0"/>
                <a:sym typeface="Poppins SemiBold"/>
              </a:rPr>
              <a:t>Apptainer</a:t>
            </a:r>
            <a:endParaRPr b="1" dirty="0">
              <a:latin typeface="Lato" panose="020F0502020204030203" pitchFamily="34" charset="0"/>
              <a:ea typeface="Lato" panose="020F0502020204030203" pitchFamily="34" charset="0"/>
              <a:cs typeface="Lato" panose="020F0502020204030203" pitchFamily="34" charset="0"/>
            </a:endParaRPr>
          </a:p>
        </p:txBody>
      </p:sp>
      <p:sp>
        <p:nvSpPr>
          <p:cNvPr id="173" name="Google Shape;173;p20"/>
          <p:cNvSpPr txBox="1"/>
          <p:nvPr/>
        </p:nvSpPr>
        <p:spPr>
          <a:xfrm>
            <a:off x="6462712" y="3688868"/>
            <a:ext cx="4632158" cy="206825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00" b="0" i="0" u="none" strike="noStrike" cap="none" dirty="0">
                <a:solidFill>
                  <a:srgbClr val="475569"/>
                </a:solidFill>
                <a:latin typeface="Lato" panose="020F0502020204030203" pitchFamily="34" charset="0"/>
                <a:ea typeface="Lato" panose="020F0502020204030203" pitchFamily="34" charset="0"/>
                <a:cs typeface="Lato" panose="020F0502020204030203" pitchFamily="34" charset="0"/>
                <a:sym typeface="Lato"/>
              </a:rPr>
              <a:t>Formerly Singularity. Designed for HPC and shared clusters where security and root-less execution are required.</a:t>
            </a:r>
            <a:endParaRPr sz="2000" dirty="0">
              <a:latin typeface="Lato" panose="020F0502020204030203" pitchFamily="34" charset="0"/>
              <a:ea typeface="Lato" panose="020F0502020204030203" pitchFamily="34" charset="0"/>
              <a:cs typeface="Lato" panose="020F0502020204030203" pitchFamily="34" charset="0"/>
            </a:endParaRPr>
          </a:p>
        </p:txBody>
      </p:sp>
      <p:pic>
        <p:nvPicPr>
          <p:cNvPr id="174" name="Google Shape;174;p20" descr="image.png"/>
          <p:cNvPicPr preferRelativeResize="0"/>
          <p:nvPr/>
        </p:nvPicPr>
        <p:blipFill rotWithShape="1">
          <a:blip r:embed="rId4">
            <a:alphaModFix/>
          </a:blip>
          <a:srcRect/>
          <a:stretch/>
        </p:blipFill>
        <p:spPr>
          <a:xfrm>
            <a:off x="661988" y="2861726"/>
            <a:ext cx="571500" cy="457200"/>
          </a:xfrm>
          <a:prstGeom prst="rect">
            <a:avLst/>
          </a:prstGeom>
          <a:noFill/>
          <a:ln>
            <a:noFill/>
          </a:ln>
        </p:spPr>
      </p:pic>
      <p:sp>
        <p:nvSpPr>
          <p:cNvPr id="176" name="Google Shape;176;p20"/>
          <p:cNvSpPr txBox="1"/>
          <p:nvPr/>
        </p:nvSpPr>
        <p:spPr>
          <a:xfrm>
            <a:off x="762000" y="919311"/>
            <a:ext cx="114014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1E293B"/>
                </a:solidFill>
                <a:latin typeface="Poppins" pitchFamily="2" charset="77"/>
                <a:ea typeface="Lato" panose="020F0502020204030203" pitchFamily="34" charset="0"/>
                <a:cs typeface="Poppins" pitchFamily="2" charset="77"/>
                <a:sym typeface="Poppins SemiBold"/>
              </a:rPr>
              <a:t>Key Container Tools</a:t>
            </a:r>
            <a:endParaRPr sz="1600" b="1" dirty="0">
              <a:latin typeface="Poppins" pitchFamily="2" charset="77"/>
              <a:ea typeface="Lato" panose="020F0502020204030203" pitchFamily="34" charset="0"/>
              <a:cs typeface="Poppins" pitchFamily="2" charset="77"/>
            </a:endParaRPr>
          </a:p>
        </p:txBody>
      </p:sp>
      <p:sp>
        <p:nvSpPr>
          <p:cNvPr id="177" name="Google Shape;177;p20"/>
          <p:cNvSpPr/>
          <p:nvPr/>
        </p:nvSpPr>
        <p:spPr>
          <a:xfrm>
            <a:off x="571500" y="919311"/>
            <a:ext cx="76200" cy="619125"/>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Lato" panose="020F0502020204030203" pitchFamily="34" charset="0"/>
              <a:ea typeface="Lato" panose="020F0502020204030203" pitchFamily="34" charset="0"/>
              <a:cs typeface="Lato" panose="020F0502020204030203" pitchFamily="34" charset="0"/>
              <a:sym typeface="Calibri"/>
            </a:endParaRPr>
          </a:p>
        </p:txBody>
      </p:sp>
      <p:pic>
        <p:nvPicPr>
          <p:cNvPr id="2" name="Picture 6" descr="Apptainer - Portable, Reproducible Containers">
            <a:extLst>
              <a:ext uri="{FF2B5EF4-FFF2-40B4-BE49-F238E27FC236}">
                <a16:creationId xmlns:a16="http://schemas.microsoft.com/office/drawing/2014/main" id="{B0BF974A-E675-77E6-4A38-F6CB0A562C8B}"/>
              </a:ext>
            </a:extLst>
          </p:cNvPr>
          <p:cNvPicPr>
            <a:picLocks noChangeAspect="1" noChangeArrowheads="1"/>
          </p:cNvPicPr>
          <p:nvPr/>
        </p:nvPicPr>
        <p:blipFill rotWithShape="1">
          <a:blip r:embed="rId5"/>
          <a:srcRect r="69674"/>
          <a:stretch>
            <a:fillRect/>
          </a:stretch>
        </p:blipFill>
        <p:spPr bwMode="auto">
          <a:xfrm>
            <a:off x="6334125" y="2686966"/>
            <a:ext cx="772585" cy="7819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12B9F04-8E88-67BB-1BD8-A0CB2FFCE5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38885" y="351522"/>
            <a:ext cx="3286350" cy="747409"/>
          </a:xfrm>
          <a:prstGeom prst="rect">
            <a:avLst/>
          </a:prstGeom>
        </p:spPr>
      </p:pic>
      <p:sp>
        <p:nvSpPr>
          <p:cNvPr id="14" name="Content Placeholder 2">
            <a:extLst>
              <a:ext uri="{FF2B5EF4-FFF2-40B4-BE49-F238E27FC236}">
                <a16:creationId xmlns:a16="http://schemas.microsoft.com/office/drawing/2014/main" id="{E6A9CE29-578D-8212-D7DD-B53EBEF7B2EC}"/>
              </a:ext>
            </a:extLst>
          </p:cNvPr>
          <p:cNvSpPr>
            <a:spLocks noGrp="1"/>
          </p:cNvSpPr>
          <p:nvPr>
            <p:ph idx="1"/>
          </p:nvPr>
        </p:nvSpPr>
        <p:spPr>
          <a:xfrm>
            <a:off x="386982" y="3178273"/>
            <a:ext cx="11776443" cy="3142382"/>
          </a:xfrm>
        </p:spPr>
        <p:txBody>
          <a:bodyPr>
            <a:normAutofit/>
          </a:bodyPr>
          <a:lstStyle/>
          <a:p>
            <a:pPr>
              <a:lnSpc>
                <a:spcPct val="120000"/>
              </a:lnSpc>
              <a:buSzPct val="100000"/>
              <a:buFont typeface="Wingdings" pitchFamily="2" charset="2"/>
              <a:buChar char="§"/>
            </a:pPr>
            <a:r>
              <a:rPr lang="en-US" sz="2600" b="1" dirty="0">
                <a:latin typeface="Lato" panose="020F0502020204030203" pitchFamily="34" charset="0"/>
                <a:ea typeface="Lato" panose="020F0502020204030203" pitchFamily="34" charset="0"/>
                <a:cs typeface="Lato" panose="020F0502020204030203" pitchFamily="34" charset="0"/>
              </a:rPr>
              <a:t>Base Operating System:</a:t>
            </a:r>
            <a:r>
              <a:rPr lang="en-US" sz="2600" dirty="0">
                <a:latin typeface="Lato" panose="020F0502020204030203" pitchFamily="34" charset="0"/>
                <a:ea typeface="Lato" panose="020F0502020204030203" pitchFamily="34" charset="0"/>
                <a:cs typeface="Lato" panose="020F0502020204030203" pitchFamily="34" charset="0"/>
              </a:rPr>
              <a:t> Ubuntu (Version 24.04 LTS)</a:t>
            </a:r>
          </a:p>
          <a:p>
            <a:pPr>
              <a:lnSpc>
                <a:spcPct val="120000"/>
              </a:lnSpc>
              <a:buSzPct val="100000"/>
              <a:buFont typeface="Wingdings" pitchFamily="2" charset="2"/>
              <a:buChar char="§"/>
            </a:pPr>
            <a:r>
              <a:rPr lang="en-US" sz="2600" b="1" dirty="0">
                <a:latin typeface="Lato" panose="020F0502020204030203" pitchFamily="34" charset="0"/>
                <a:ea typeface="Lato" panose="020F0502020204030203" pitchFamily="34" charset="0"/>
                <a:cs typeface="Lato" panose="020F0502020204030203" pitchFamily="34" charset="0"/>
              </a:rPr>
              <a:t>R Version </a:t>
            </a:r>
            <a:r>
              <a:rPr lang="en-US" sz="2600" b="1" dirty="0">
                <a:latin typeface="Lato" panose="020F0502020204030203" pitchFamily="34" charset="0"/>
                <a:ea typeface="Lato" panose="020F0502020204030203" pitchFamily="34" charset="0"/>
                <a:cs typeface="Lato" panose="020F0502020204030203" pitchFamily="34" charset="0"/>
                <a:sym typeface="Wingdings" pitchFamily="2" charset="2"/>
              </a:rPr>
              <a:t> </a:t>
            </a:r>
            <a:r>
              <a:rPr lang="en-US" sz="2600" dirty="0">
                <a:latin typeface="Lato" panose="020F0502020204030203" pitchFamily="34" charset="0"/>
                <a:ea typeface="Lato" panose="020F0502020204030203" pitchFamily="34" charset="0"/>
                <a:cs typeface="Lato" panose="020F0502020204030203" pitchFamily="34" charset="0"/>
              </a:rPr>
              <a:t>R version 4.3.2</a:t>
            </a:r>
          </a:p>
          <a:p>
            <a:pPr>
              <a:lnSpc>
                <a:spcPct val="120000"/>
              </a:lnSpc>
              <a:buSzPct val="100000"/>
              <a:buFont typeface="Wingdings" pitchFamily="2" charset="2"/>
              <a:buChar char="§"/>
            </a:pPr>
            <a:r>
              <a:rPr lang="en-US" sz="2600" b="1" dirty="0">
                <a:latin typeface="Lato" panose="020F0502020204030203" pitchFamily="34" charset="0"/>
                <a:ea typeface="Lato" panose="020F0502020204030203" pitchFamily="34" charset="0"/>
                <a:cs typeface="Lato" panose="020F0502020204030203" pitchFamily="34" charset="0"/>
              </a:rPr>
              <a:t>R Packages </a:t>
            </a:r>
            <a:r>
              <a:rPr lang="en-US" sz="2600" b="1" dirty="0">
                <a:latin typeface="Lato" panose="020F0502020204030203" pitchFamily="34" charset="0"/>
                <a:ea typeface="Lato" panose="020F0502020204030203" pitchFamily="34" charset="0"/>
                <a:cs typeface="Lato" panose="020F0502020204030203" pitchFamily="34" charset="0"/>
                <a:sym typeface="Wingdings" pitchFamily="2" charset="2"/>
              </a:rPr>
              <a:t> </a:t>
            </a:r>
            <a:r>
              <a:rPr lang="en-US" sz="2600" dirty="0">
                <a:latin typeface="Lato" panose="020F0502020204030203" pitchFamily="34" charset="0"/>
                <a:ea typeface="Lato" panose="020F0502020204030203" pitchFamily="34" charset="0"/>
                <a:cs typeface="Lato" panose="020F0502020204030203" pitchFamily="34" charset="0"/>
              </a:rPr>
              <a:t>ggplot2 version 3.4.4, </a:t>
            </a:r>
            <a:r>
              <a:rPr lang="en-US" sz="2600" dirty="0" err="1">
                <a:latin typeface="Lato" panose="020F0502020204030203" pitchFamily="34" charset="0"/>
                <a:ea typeface="Lato" panose="020F0502020204030203" pitchFamily="34" charset="0"/>
                <a:cs typeface="Lato" panose="020F0502020204030203" pitchFamily="34" charset="0"/>
              </a:rPr>
              <a:t>ggplot</a:t>
            </a:r>
            <a:r>
              <a:rPr lang="en-US" sz="2600" dirty="0">
                <a:latin typeface="Lato" panose="020F0502020204030203" pitchFamily="34" charset="0"/>
                <a:ea typeface="Lato" panose="020F0502020204030203" pitchFamily="34" charset="0"/>
                <a:cs typeface="Lato" panose="020F0502020204030203" pitchFamily="34" charset="0"/>
              </a:rPr>
              <a:t> version 1.1.4 </a:t>
            </a:r>
          </a:p>
          <a:p>
            <a:pPr>
              <a:lnSpc>
                <a:spcPct val="120000"/>
              </a:lnSpc>
              <a:buSzPct val="100000"/>
              <a:buFont typeface="Wingdings" pitchFamily="2" charset="2"/>
              <a:buChar char="§"/>
            </a:pPr>
            <a:r>
              <a:rPr lang="en-US" sz="2600" b="1" dirty="0">
                <a:latin typeface="Lato" panose="020F0502020204030203" pitchFamily="34" charset="0"/>
                <a:ea typeface="Lato" panose="020F0502020204030203" pitchFamily="34" charset="0"/>
                <a:cs typeface="Lato" panose="020F0502020204030203" pitchFamily="34" charset="0"/>
              </a:rPr>
              <a:t>R Script </a:t>
            </a:r>
            <a:r>
              <a:rPr lang="en-US" sz="2600" b="1" dirty="0">
                <a:latin typeface="Lato" panose="020F0502020204030203" pitchFamily="34" charset="0"/>
                <a:ea typeface="Lato" panose="020F0502020204030203" pitchFamily="34" charset="0"/>
                <a:cs typeface="Lato" panose="020F0502020204030203" pitchFamily="34" charset="0"/>
                <a:sym typeface="Wingdings" pitchFamily="2" charset="2"/>
              </a:rPr>
              <a:t> </a:t>
            </a:r>
            <a:r>
              <a:rPr lang="en-US" sz="2600" dirty="0" err="1">
                <a:latin typeface="Lato" panose="020F0502020204030203" pitchFamily="34" charset="0"/>
                <a:ea typeface="Lato" panose="020F0502020204030203" pitchFamily="34" charset="0"/>
                <a:cs typeface="Lato" panose="020F0502020204030203" pitchFamily="34" charset="0"/>
              </a:rPr>
              <a:t>my_analysis.R</a:t>
            </a:r>
            <a:endParaRPr lang="en-US" sz="2600" dirty="0">
              <a:latin typeface="Lato" panose="020F0502020204030203" pitchFamily="34" charset="0"/>
              <a:ea typeface="Lato" panose="020F0502020204030203" pitchFamily="34" charset="0"/>
              <a:cs typeface="Lato" panose="020F0502020204030203" pitchFamily="34" charset="0"/>
            </a:endParaRPr>
          </a:p>
          <a:p>
            <a:pPr>
              <a:lnSpc>
                <a:spcPct val="120000"/>
              </a:lnSpc>
              <a:buSzPct val="100000"/>
              <a:buFont typeface="Wingdings" pitchFamily="2" charset="2"/>
              <a:buChar char="§"/>
            </a:pPr>
            <a:r>
              <a:rPr lang="en-US" sz="2600" b="1" dirty="0">
                <a:latin typeface="Lato" panose="020F0502020204030203" pitchFamily="34" charset="0"/>
                <a:ea typeface="Lato" panose="020F0502020204030203" pitchFamily="34" charset="0"/>
                <a:cs typeface="Lato" panose="020F0502020204030203" pitchFamily="34" charset="0"/>
              </a:rPr>
              <a:t>Filesystem </a:t>
            </a:r>
            <a:r>
              <a:rPr lang="en-US" sz="2600" b="1" dirty="0">
                <a:latin typeface="Lato" panose="020F0502020204030203" pitchFamily="34" charset="0"/>
                <a:ea typeface="Lato" panose="020F0502020204030203" pitchFamily="34" charset="0"/>
                <a:cs typeface="Lato" panose="020F0502020204030203" pitchFamily="34" charset="0"/>
                <a:sym typeface="Wingdings" pitchFamily="2" charset="2"/>
              </a:rPr>
              <a:t> </a:t>
            </a:r>
            <a:r>
              <a:rPr lang="en-US" sz="2600" dirty="0">
                <a:latin typeface="Lato" panose="020F0502020204030203" pitchFamily="34" charset="0"/>
                <a:ea typeface="Lato" panose="020F0502020204030203" pitchFamily="34" charset="0"/>
                <a:cs typeface="Lato" panose="020F0502020204030203" pitchFamily="34" charset="0"/>
              </a:rPr>
              <a:t>the layered structure combining all elements above</a:t>
            </a:r>
          </a:p>
        </p:txBody>
      </p:sp>
      <p:sp>
        <p:nvSpPr>
          <p:cNvPr id="2" name="Google Shape;150;p18">
            <a:extLst>
              <a:ext uri="{FF2B5EF4-FFF2-40B4-BE49-F238E27FC236}">
                <a16:creationId xmlns:a16="http://schemas.microsoft.com/office/drawing/2014/main" id="{A3479BA8-9276-1291-7844-874FB5891D71}"/>
              </a:ext>
            </a:extLst>
          </p:cNvPr>
          <p:cNvSpPr txBox="1"/>
          <p:nvPr/>
        </p:nvSpPr>
        <p:spPr>
          <a:xfrm>
            <a:off x="762000" y="919311"/>
            <a:ext cx="114014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1E293B"/>
                </a:solidFill>
                <a:latin typeface="Poppins" pitchFamily="2" charset="77"/>
                <a:ea typeface="Lato" panose="020F0502020204030203" pitchFamily="34" charset="0"/>
                <a:cs typeface="Poppins" pitchFamily="2" charset="77"/>
                <a:sym typeface="Poppins SemiBold"/>
              </a:rPr>
              <a:t>Example Docker Container</a:t>
            </a:r>
            <a:endParaRPr sz="1600" b="1" dirty="0">
              <a:latin typeface="Poppins" pitchFamily="2" charset="77"/>
              <a:ea typeface="Lato" panose="020F0502020204030203" pitchFamily="34" charset="0"/>
              <a:cs typeface="Poppins" pitchFamily="2" charset="77"/>
            </a:endParaRPr>
          </a:p>
        </p:txBody>
      </p:sp>
      <p:sp>
        <p:nvSpPr>
          <p:cNvPr id="3" name="Google Shape;151;p18">
            <a:extLst>
              <a:ext uri="{FF2B5EF4-FFF2-40B4-BE49-F238E27FC236}">
                <a16:creationId xmlns:a16="http://schemas.microsoft.com/office/drawing/2014/main" id="{1FEC903E-3990-F754-1E75-90B9AB43AD69}"/>
              </a:ext>
            </a:extLst>
          </p:cNvPr>
          <p:cNvSpPr/>
          <p:nvPr/>
        </p:nvSpPr>
        <p:spPr>
          <a:xfrm>
            <a:off x="571500" y="919311"/>
            <a:ext cx="76200" cy="619125"/>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59;p19">
            <a:extLst>
              <a:ext uri="{FF2B5EF4-FFF2-40B4-BE49-F238E27FC236}">
                <a16:creationId xmlns:a16="http://schemas.microsoft.com/office/drawing/2014/main" id="{4D0C4F59-720D-0F42-F52F-77AB23DA2C15}"/>
              </a:ext>
            </a:extLst>
          </p:cNvPr>
          <p:cNvSpPr txBox="1"/>
          <p:nvPr/>
        </p:nvSpPr>
        <p:spPr>
          <a:xfrm>
            <a:off x="571500" y="2231953"/>
            <a:ext cx="5200650" cy="76944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0" i="0" u="none" strike="noStrike" cap="none" dirty="0">
                <a:solidFill>
                  <a:srgbClr val="2563EB"/>
                </a:solidFill>
                <a:latin typeface="Poppins SemiBold"/>
                <a:ea typeface="Poppins SemiBold"/>
                <a:cs typeface="Poppins SemiBold"/>
                <a:sym typeface="Poppins SemiBold"/>
              </a:rPr>
              <a:t>Elements:</a:t>
            </a:r>
          </a:p>
          <a:p>
            <a:pPr marL="0" marR="0" lvl="0" indent="0" algn="l" rtl="0">
              <a:spcBef>
                <a:spcPts val="0"/>
              </a:spcBef>
              <a:spcAft>
                <a:spcPts val="0"/>
              </a:spcAft>
              <a:buNone/>
            </a:pPr>
            <a:endParaRPr sz="1800" dirty="0"/>
          </a:p>
        </p:txBody>
      </p:sp>
    </p:spTree>
    <p:extLst>
      <p:ext uri="{BB962C8B-B14F-4D97-AF65-F5344CB8AC3E}">
        <p14:creationId xmlns:p14="http://schemas.microsoft.com/office/powerpoint/2010/main" val="3034066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3A6B2F-4838-E2E5-C1BD-32C7B48DAC32}"/>
              </a:ext>
            </a:extLst>
          </p:cNvPr>
          <p:cNvSpPr txBox="1"/>
          <p:nvPr/>
        </p:nvSpPr>
        <p:spPr>
          <a:xfrm>
            <a:off x="1331089" y="2767280"/>
            <a:ext cx="9109276" cy="1323439"/>
          </a:xfrm>
          <a:prstGeom prst="rect">
            <a:avLst/>
          </a:prstGeom>
          <a:noFill/>
        </p:spPr>
        <p:txBody>
          <a:bodyPr wrap="square">
            <a:spAutoFit/>
          </a:bodyPr>
          <a:lstStyle/>
          <a:p>
            <a:pPr algn="ctr"/>
            <a:r>
              <a:rPr lang="en-US" sz="4000" b="1" dirty="0">
                <a:solidFill>
                  <a:srgbClr val="2463EC"/>
                </a:solidFill>
                <a:latin typeface="Poppins" pitchFamily="2" charset="77"/>
                <a:cs typeface="Poppins" pitchFamily="2" charset="77"/>
              </a:rPr>
              <a:t>How do we keep our pipelines and containers organized?</a:t>
            </a:r>
          </a:p>
        </p:txBody>
      </p:sp>
    </p:spTree>
    <p:extLst>
      <p:ext uri="{BB962C8B-B14F-4D97-AF65-F5344CB8AC3E}">
        <p14:creationId xmlns:p14="http://schemas.microsoft.com/office/powerpoint/2010/main" val="3072911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p:cNvGrpSpPr/>
        <p:nvPr/>
      </p:nvGrpSpPr>
      <p:grpSpPr>
        <a:xfrm>
          <a:off x="0" y="0"/>
          <a:ext cx="0" cy="0"/>
          <a:chOff x="0" y="0"/>
          <a:chExt cx="0" cy="0"/>
        </a:xfrm>
      </p:grpSpPr>
      <p:sp>
        <p:nvSpPr>
          <p:cNvPr id="184" name="Google Shape;184;p21"/>
          <p:cNvSpPr txBox="1"/>
          <p:nvPr/>
        </p:nvSpPr>
        <p:spPr>
          <a:xfrm>
            <a:off x="600195" y="2456342"/>
            <a:ext cx="10991609" cy="1206484"/>
          </a:xfrm>
          <a:prstGeom prst="rect">
            <a:avLst/>
          </a:prstGeom>
          <a:noFill/>
          <a:ln>
            <a:noFill/>
          </a:ln>
        </p:spPr>
        <p:txBody>
          <a:bodyPr spcFirstLastPara="1" wrap="square" lIns="0" tIns="0" rIns="0" bIns="0" anchor="t" anchorCtr="0">
            <a:spAutoFit/>
          </a:bodyPr>
          <a:lstStyle/>
          <a:p>
            <a:pPr>
              <a:lnSpc>
                <a:spcPct val="140000"/>
              </a:lnSpc>
            </a:pPr>
            <a:r>
              <a:rPr lang="en-US" sz="2800" dirty="0">
                <a:solidFill>
                  <a:srgbClr val="2563EB"/>
                </a:solidFill>
                <a:latin typeface="Poppins SemiBold"/>
                <a:ea typeface="Poppins SemiBold"/>
                <a:cs typeface="Poppins SemiBold"/>
                <a:sym typeface="Poppins SemiBold"/>
              </a:rPr>
              <a:t>Elements A software framework that helps you build and execute pipelines (often inside containers)</a:t>
            </a:r>
          </a:p>
        </p:txBody>
      </p:sp>
      <p:sp>
        <p:nvSpPr>
          <p:cNvPr id="187" name="Google Shape;187;p21"/>
          <p:cNvSpPr txBox="1"/>
          <p:nvPr/>
        </p:nvSpPr>
        <p:spPr>
          <a:xfrm>
            <a:off x="571500" y="3848473"/>
            <a:ext cx="6130242" cy="2369880"/>
          </a:xfrm>
          <a:prstGeom prst="rect">
            <a:avLst/>
          </a:prstGeom>
          <a:noFill/>
          <a:ln>
            <a:noFill/>
          </a:ln>
        </p:spPr>
        <p:txBody>
          <a:bodyPr spcFirstLastPara="1" wrap="square" lIns="123825" tIns="0" rIns="0" bIns="0" anchor="t" anchorCtr="0">
            <a:spAutoFit/>
          </a:bodyPr>
          <a:lstStyle/>
          <a:p>
            <a:pPr marL="285750" marR="0" lvl="0" indent="-285750" algn="l" rtl="0">
              <a:lnSpc>
                <a:spcPct val="140000"/>
              </a:lnSpc>
              <a:spcBef>
                <a:spcPts val="0"/>
              </a:spcBef>
              <a:spcAft>
                <a:spcPts val="0"/>
              </a:spcAft>
              <a:buFont typeface="Wingdings" pitchFamily="2" charset="2"/>
              <a:buChar char="§"/>
            </a:pPr>
            <a:r>
              <a:rPr lang="en-US" sz="2400" b="0" i="0" u="none" strike="noStrike" cap="none" dirty="0">
                <a:solidFill>
                  <a:srgbClr val="475569"/>
                </a:solidFill>
                <a:latin typeface="Lato"/>
                <a:ea typeface="Lato"/>
                <a:cs typeface="Lato"/>
                <a:sym typeface="Lato"/>
              </a:rPr>
              <a:t>Manages dependencies and tasks</a:t>
            </a:r>
          </a:p>
          <a:p>
            <a:pPr marL="285750" lvl="0" indent="-285750">
              <a:lnSpc>
                <a:spcPct val="140000"/>
              </a:lnSpc>
              <a:buFont typeface="Wingdings" pitchFamily="2" charset="2"/>
              <a:buChar char="§"/>
            </a:pPr>
            <a:r>
              <a:rPr lang="en-US" sz="2400" dirty="0">
                <a:solidFill>
                  <a:srgbClr val="475569"/>
                </a:solidFill>
                <a:latin typeface="Lato"/>
                <a:ea typeface="Lato"/>
                <a:cs typeface="Lato"/>
                <a:sym typeface="Lato"/>
              </a:rPr>
              <a:t>Handles resource distribution</a:t>
            </a:r>
          </a:p>
          <a:p>
            <a:pPr marL="285750" lvl="0" indent="-285750">
              <a:lnSpc>
                <a:spcPct val="140000"/>
              </a:lnSpc>
              <a:buFont typeface="Wingdings" pitchFamily="2" charset="2"/>
              <a:buChar char="§"/>
            </a:pPr>
            <a:r>
              <a:rPr lang="en-US" sz="2400" dirty="0">
                <a:solidFill>
                  <a:srgbClr val="475569"/>
                </a:solidFill>
                <a:latin typeface="Lato"/>
                <a:ea typeface="Lato"/>
                <a:cs typeface="Lato"/>
                <a:sym typeface="Lato"/>
              </a:rPr>
              <a:t>Scales computation across CPUs/Nodes</a:t>
            </a:r>
          </a:p>
          <a:p>
            <a:pPr marL="285750" lvl="0" indent="-285750">
              <a:lnSpc>
                <a:spcPct val="140000"/>
              </a:lnSpc>
              <a:buFont typeface="Wingdings" pitchFamily="2" charset="2"/>
              <a:buChar char="§"/>
            </a:pPr>
            <a:r>
              <a:rPr lang="en-US" sz="2400" dirty="0">
                <a:solidFill>
                  <a:srgbClr val="475569"/>
                </a:solidFill>
                <a:latin typeface="Lato"/>
                <a:ea typeface="Lato"/>
                <a:cs typeface="Lato"/>
                <a:sym typeface="Lato"/>
              </a:rPr>
              <a:t>Improves project organization</a:t>
            </a:r>
          </a:p>
          <a:p>
            <a:pPr marL="0" marR="0" lvl="0" indent="0" algn="l" rtl="0">
              <a:lnSpc>
                <a:spcPct val="140000"/>
              </a:lnSpc>
              <a:spcBef>
                <a:spcPts val="0"/>
              </a:spcBef>
              <a:spcAft>
                <a:spcPts val="0"/>
              </a:spcAft>
              <a:buNone/>
            </a:pPr>
            <a:endParaRPr dirty="0"/>
          </a:p>
        </p:txBody>
      </p:sp>
      <p:sp>
        <p:nvSpPr>
          <p:cNvPr id="192" name="Google Shape;192;p21"/>
          <p:cNvSpPr txBox="1"/>
          <p:nvPr/>
        </p:nvSpPr>
        <p:spPr>
          <a:xfrm>
            <a:off x="762000" y="919311"/>
            <a:ext cx="114014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1E293B"/>
                </a:solidFill>
                <a:latin typeface="Poppins" pitchFamily="2" charset="77"/>
                <a:ea typeface="Lato" panose="020F0502020204030203" pitchFamily="34" charset="0"/>
                <a:cs typeface="Poppins" pitchFamily="2" charset="77"/>
                <a:sym typeface="Poppins SemiBold"/>
              </a:rPr>
              <a:t>Workflow Management Systems</a:t>
            </a:r>
            <a:endParaRPr sz="1600" b="1" dirty="0">
              <a:latin typeface="Poppins" pitchFamily="2" charset="77"/>
              <a:ea typeface="Lato" panose="020F0502020204030203" pitchFamily="34" charset="0"/>
              <a:cs typeface="Poppins" pitchFamily="2" charset="77"/>
            </a:endParaRPr>
          </a:p>
        </p:txBody>
      </p:sp>
      <p:sp>
        <p:nvSpPr>
          <p:cNvPr id="193" name="Google Shape;193;p21"/>
          <p:cNvSpPr/>
          <p:nvPr/>
        </p:nvSpPr>
        <p:spPr>
          <a:xfrm>
            <a:off x="571500" y="919311"/>
            <a:ext cx="76200" cy="619125"/>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7"/>
        <p:cNvGrpSpPr/>
        <p:nvPr/>
      </p:nvGrpSpPr>
      <p:grpSpPr>
        <a:xfrm>
          <a:off x="0" y="0"/>
          <a:ext cx="0" cy="0"/>
          <a:chOff x="0" y="0"/>
          <a:chExt cx="0" cy="0"/>
        </a:xfrm>
      </p:grpSpPr>
      <p:sp>
        <p:nvSpPr>
          <p:cNvPr id="201" name="Google Shape;201;p22"/>
          <p:cNvSpPr txBox="1"/>
          <p:nvPr/>
        </p:nvSpPr>
        <p:spPr>
          <a:xfrm>
            <a:off x="3974280" y="975036"/>
            <a:ext cx="8718992"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dirty="0">
                <a:solidFill>
                  <a:srgbClr val="1E293B"/>
                </a:solidFill>
                <a:latin typeface="Poppins SemiBold"/>
                <a:ea typeface="Poppins SemiBold"/>
                <a:cs typeface="Poppins SemiBold"/>
                <a:sym typeface="Wingdings" pitchFamily="2" charset="2"/>
              </a:rPr>
              <a:t> </a:t>
            </a:r>
            <a:r>
              <a:rPr lang="en-US" sz="3600" b="0" i="0" u="none" strike="noStrike" cap="none" dirty="0">
                <a:solidFill>
                  <a:srgbClr val="1E293B"/>
                </a:solidFill>
                <a:latin typeface="Poppins SemiBold"/>
                <a:ea typeface="Poppins SemiBold"/>
                <a:cs typeface="Poppins SemiBold"/>
                <a:sym typeface="Poppins SemiBold"/>
              </a:rPr>
              <a:t>Scaling Science</a:t>
            </a:r>
            <a:endParaRPr sz="1600" dirty="0"/>
          </a:p>
        </p:txBody>
      </p:sp>
      <p:sp>
        <p:nvSpPr>
          <p:cNvPr id="202" name="Google Shape;202;p22"/>
          <p:cNvSpPr/>
          <p:nvPr/>
        </p:nvSpPr>
        <p:spPr>
          <a:xfrm>
            <a:off x="571500" y="903535"/>
            <a:ext cx="76200" cy="619125"/>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Content Placeholder 2">
            <a:extLst>
              <a:ext uri="{FF2B5EF4-FFF2-40B4-BE49-F238E27FC236}">
                <a16:creationId xmlns:a16="http://schemas.microsoft.com/office/drawing/2014/main" id="{60FB1795-879F-447A-8D94-7398458B3776}"/>
              </a:ext>
            </a:extLst>
          </p:cNvPr>
          <p:cNvSpPr txBox="1">
            <a:spLocks/>
          </p:cNvSpPr>
          <p:nvPr/>
        </p:nvSpPr>
        <p:spPr>
          <a:xfrm>
            <a:off x="571500" y="2484068"/>
            <a:ext cx="11620500" cy="2311686"/>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lang="en-US" sz="2800" b="1" dirty="0">
                <a:solidFill>
                  <a:srgbClr val="2463EC"/>
                </a:solidFill>
                <a:latin typeface="Poppins" pitchFamily="2" charset="77"/>
                <a:ea typeface="Lato" panose="020F0502020204030203" pitchFamily="34" charset="0"/>
                <a:cs typeface="Poppins" pitchFamily="2" charset="77"/>
              </a:rPr>
              <a:t>Highly scalable and portable pipelines for clusters and cloud platforms.</a:t>
            </a:r>
            <a:endParaRPr lang="en-US" sz="2800" b="1" dirty="0">
              <a:solidFill>
                <a:srgbClr val="2463EC"/>
              </a:solidFill>
              <a:latin typeface="Poppins" pitchFamily="2" charset="77"/>
              <a:cs typeface="Poppins" pitchFamily="2" charset="77"/>
            </a:endParaRPr>
          </a:p>
          <a:p>
            <a:endParaRPr lang="en-US" dirty="0"/>
          </a:p>
        </p:txBody>
      </p:sp>
      <p:pic>
        <p:nvPicPr>
          <p:cNvPr id="5" name="Picture 4" descr="A screenshot of a computer&#10;&#10;AI-generated content may be incorrect.">
            <a:extLst>
              <a:ext uri="{FF2B5EF4-FFF2-40B4-BE49-F238E27FC236}">
                <a16:creationId xmlns:a16="http://schemas.microsoft.com/office/drawing/2014/main" id="{CC350446-8666-FB94-07F5-DE545B3A68E6}"/>
              </a:ext>
            </a:extLst>
          </p:cNvPr>
          <p:cNvPicPr>
            <a:picLocks noChangeAspect="1"/>
          </p:cNvPicPr>
          <p:nvPr/>
        </p:nvPicPr>
        <p:blipFill>
          <a:blip r:embed="rId3"/>
          <a:stretch>
            <a:fillRect/>
          </a:stretch>
        </p:blipFill>
        <p:spPr>
          <a:xfrm>
            <a:off x="4447576" y="3639911"/>
            <a:ext cx="7772400" cy="3652192"/>
          </a:xfrm>
          <a:prstGeom prst="rect">
            <a:avLst/>
          </a:prstGeom>
        </p:spPr>
      </p:pic>
      <p:pic>
        <p:nvPicPr>
          <p:cNvPr id="6" name="Picture 5" descr="A black and white logo&#10;&#10;AI-generated content may be incorrect.">
            <a:extLst>
              <a:ext uri="{FF2B5EF4-FFF2-40B4-BE49-F238E27FC236}">
                <a16:creationId xmlns:a16="http://schemas.microsoft.com/office/drawing/2014/main" id="{7AD721E5-D86A-A8C2-0D0B-B1CA707A6858}"/>
              </a:ext>
            </a:extLst>
          </p:cNvPr>
          <p:cNvPicPr>
            <a:picLocks noChangeAspect="1"/>
          </p:cNvPicPr>
          <p:nvPr/>
        </p:nvPicPr>
        <p:blipFill>
          <a:blip r:embed="rId4"/>
          <a:srcRect l="10757" t="18494" r="16472" b="36927"/>
          <a:stretch>
            <a:fillRect/>
          </a:stretch>
        </p:blipFill>
        <p:spPr>
          <a:xfrm>
            <a:off x="735956" y="891959"/>
            <a:ext cx="3122270" cy="61912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4" name="Google Shape;204;p21" descr="image.png"/>
          <p:cNvPicPr preferRelativeResize="0"/>
          <p:nvPr/>
        </p:nvPicPr>
        <p:blipFill rotWithShape="1">
          <a:blip r:embed="rId3">
            <a:alphaModFix/>
          </a:blip>
          <a:srcRect/>
          <a:stretch/>
        </p:blipFill>
        <p:spPr>
          <a:xfrm>
            <a:off x="0" y="6781800"/>
            <a:ext cx="6858000" cy="76200"/>
          </a:xfrm>
          <a:prstGeom prst="rect">
            <a:avLst/>
          </a:prstGeom>
          <a:noFill/>
          <a:ln>
            <a:noFill/>
          </a:ln>
        </p:spPr>
      </p:pic>
      <p:sp>
        <p:nvSpPr>
          <p:cNvPr id="205" name="Google Shape;205;p21"/>
          <p:cNvSpPr txBox="1"/>
          <p:nvPr/>
        </p:nvSpPr>
        <p:spPr>
          <a:xfrm>
            <a:off x="571500" y="1981200"/>
            <a:ext cx="5550693"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1" i="0" u="none" strike="noStrike" cap="none" dirty="0">
                <a:solidFill>
                  <a:srgbClr val="2563EB"/>
                </a:solidFill>
                <a:latin typeface="Poppins" pitchFamily="2" charset="77"/>
                <a:ea typeface="Lato" panose="020F0502020204030203" pitchFamily="34" charset="0"/>
                <a:cs typeface="Poppins" pitchFamily="2" charset="77"/>
                <a:sym typeface="Plus Jakarta Sans SemiBold"/>
              </a:rPr>
              <a:t>A Web-Based Platform</a:t>
            </a:r>
            <a:endParaRPr sz="2800" b="1" dirty="0">
              <a:latin typeface="Poppins" pitchFamily="2" charset="77"/>
              <a:ea typeface="Lato" panose="020F0502020204030203" pitchFamily="34" charset="0"/>
              <a:cs typeface="Poppins" pitchFamily="2" charset="77"/>
            </a:endParaRPr>
          </a:p>
        </p:txBody>
      </p:sp>
      <p:sp>
        <p:nvSpPr>
          <p:cNvPr id="206" name="Google Shape;206;p21"/>
          <p:cNvSpPr txBox="1"/>
          <p:nvPr/>
        </p:nvSpPr>
        <p:spPr>
          <a:xfrm>
            <a:off x="571499" y="2571750"/>
            <a:ext cx="10933735"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0" i="0" u="none" strike="noStrike" cap="none" dirty="0">
                <a:solidFill>
                  <a:srgbClr val="475569"/>
                </a:solidFill>
                <a:latin typeface="Lato" panose="020F0502020204030203" pitchFamily="34" charset="0"/>
                <a:ea typeface="Lato" panose="020F0502020204030203" pitchFamily="34" charset="0"/>
                <a:cs typeface="Lato" panose="020F0502020204030203" pitchFamily="34" charset="0"/>
                <a:sym typeface="Inter"/>
              </a:rPr>
              <a:t>Built around </a:t>
            </a:r>
            <a:r>
              <a:rPr lang="en-US" sz="2400" b="1" i="0" u="none" strike="noStrike" cap="none" dirty="0">
                <a:solidFill>
                  <a:srgbClr val="475569"/>
                </a:solidFill>
                <a:latin typeface="Lato" panose="020F0502020204030203" pitchFamily="34" charset="0"/>
                <a:ea typeface="Lato" panose="020F0502020204030203" pitchFamily="34" charset="0"/>
                <a:cs typeface="Lato" panose="020F0502020204030203" pitchFamily="34" charset="0"/>
                <a:sym typeface="Inter"/>
              </a:rPr>
              <a:t>Git</a:t>
            </a:r>
            <a:r>
              <a:rPr lang="en-US" sz="2400" b="0" i="0" u="none" strike="noStrike" cap="none" dirty="0">
                <a:solidFill>
                  <a:srgbClr val="475569"/>
                </a:solidFill>
                <a:latin typeface="Lato" panose="020F0502020204030203" pitchFamily="34" charset="0"/>
                <a:ea typeface="Lato" panose="020F0502020204030203" pitchFamily="34" charset="0"/>
                <a:cs typeface="Lato" panose="020F0502020204030203" pitchFamily="34" charset="0"/>
                <a:sym typeface="Inter"/>
              </a:rPr>
              <a:t>, GitHub is an online infrastructure for scientific collaboration</a:t>
            </a:r>
            <a:endParaRPr sz="2000" dirty="0">
              <a:latin typeface="Lato" panose="020F0502020204030203" pitchFamily="34" charset="0"/>
              <a:ea typeface="Lato" panose="020F0502020204030203" pitchFamily="34" charset="0"/>
              <a:cs typeface="Lato" panose="020F0502020204030203" pitchFamily="34" charset="0"/>
            </a:endParaRPr>
          </a:p>
        </p:txBody>
      </p:sp>
      <p:sp>
        <p:nvSpPr>
          <p:cNvPr id="208" name="Google Shape;208;p21"/>
          <p:cNvSpPr txBox="1"/>
          <p:nvPr/>
        </p:nvSpPr>
        <p:spPr>
          <a:xfrm>
            <a:off x="1187973" y="3435830"/>
            <a:ext cx="4762500"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0" i="0" u="none" strike="noStrike" cap="none" dirty="0">
                <a:solidFill>
                  <a:srgbClr val="475569"/>
                </a:solidFill>
                <a:latin typeface="Lato" panose="020F0502020204030203" pitchFamily="34" charset="0"/>
                <a:ea typeface="Lato" panose="020F0502020204030203" pitchFamily="34" charset="0"/>
                <a:cs typeface="Lato" panose="020F0502020204030203" pitchFamily="34" charset="0"/>
                <a:sym typeface="Inter"/>
              </a:rPr>
              <a:t>A remote location for tracked files</a:t>
            </a:r>
            <a:endParaRPr sz="1800" dirty="0">
              <a:latin typeface="Lato" panose="020F0502020204030203" pitchFamily="34" charset="0"/>
              <a:ea typeface="Lato" panose="020F0502020204030203" pitchFamily="34" charset="0"/>
              <a:cs typeface="Lato" panose="020F0502020204030203" pitchFamily="34" charset="0"/>
            </a:endParaRPr>
          </a:p>
        </p:txBody>
      </p:sp>
      <p:sp>
        <p:nvSpPr>
          <p:cNvPr id="209" name="Google Shape;209;p21"/>
          <p:cNvSpPr txBox="1"/>
          <p:nvPr/>
        </p:nvSpPr>
        <p:spPr>
          <a:xfrm>
            <a:off x="1187973" y="4372941"/>
            <a:ext cx="4762500"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0" i="0" u="none" strike="noStrike" cap="none" dirty="0">
                <a:solidFill>
                  <a:srgbClr val="475569"/>
                </a:solidFill>
                <a:latin typeface="Lato" panose="020F0502020204030203" pitchFamily="34" charset="0"/>
                <a:ea typeface="Lato" panose="020F0502020204030203" pitchFamily="34" charset="0"/>
                <a:cs typeface="Lato" panose="020F0502020204030203" pitchFamily="34" charset="0"/>
                <a:sym typeface="Inter"/>
              </a:rPr>
              <a:t>Visual interface for project history</a:t>
            </a:r>
            <a:endParaRPr sz="1800" dirty="0">
              <a:latin typeface="Lato" panose="020F0502020204030203" pitchFamily="34" charset="0"/>
              <a:ea typeface="Lato" panose="020F0502020204030203" pitchFamily="34" charset="0"/>
              <a:cs typeface="Lato" panose="020F0502020204030203" pitchFamily="34" charset="0"/>
            </a:endParaRPr>
          </a:p>
        </p:txBody>
      </p:sp>
      <p:sp>
        <p:nvSpPr>
          <p:cNvPr id="210" name="Google Shape;210;p21"/>
          <p:cNvSpPr txBox="1"/>
          <p:nvPr/>
        </p:nvSpPr>
        <p:spPr>
          <a:xfrm>
            <a:off x="1187973" y="5265238"/>
            <a:ext cx="4762500"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0" i="0" u="none" strike="noStrike" cap="none" dirty="0">
                <a:solidFill>
                  <a:srgbClr val="475569"/>
                </a:solidFill>
                <a:latin typeface="Lato" panose="020F0502020204030203" pitchFamily="34" charset="0"/>
                <a:ea typeface="Lato" panose="020F0502020204030203" pitchFamily="34" charset="0"/>
                <a:cs typeface="Lato" panose="020F0502020204030203" pitchFamily="34" charset="0"/>
                <a:sym typeface="Inter"/>
              </a:rPr>
              <a:t>Secure cloud-based backup</a:t>
            </a:r>
            <a:endParaRPr sz="1800" dirty="0">
              <a:latin typeface="Lato" panose="020F0502020204030203" pitchFamily="34" charset="0"/>
              <a:ea typeface="Lato" panose="020F0502020204030203" pitchFamily="34" charset="0"/>
              <a:cs typeface="Lato" panose="020F0502020204030203" pitchFamily="34" charset="0"/>
            </a:endParaRPr>
          </a:p>
        </p:txBody>
      </p:sp>
      <p:pic>
        <p:nvPicPr>
          <p:cNvPr id="211" name="Google Shape;211;p21" descr="image.png"/>
          <p:cNvPicPr preferRelativeResize="0">
            <a:picLocks noChangeAspect="1"/>
          </p:cNvPicPr>
          <p:nvPr/>
        </p:nvPicPr>
        <p:blipFill rotWithShape="1">
          <a:blip r:embed="rId4">
            <a:alphaModFix/>
          </a:blip>
          <a:srcRect/>
          <a:stretch/>
        </p:blipFill>
        <p:spPr>
          <a:xfrm>
            <a:off x="476751" y="3503029"/>
            <a:ext cx="514350" cy="419601"/>
          </a:xfrm>
          <a:prstGeom prst="rect">
            <a:avLst/>
          </a:prstGeom>
          <a:noFill/>
          <a:ln>
            <a:noFill/>
          </a:ln>
        </p:spPr>
      </p:pic>
      <p:pic>
        <p:nvPicPr>
          <p:cNvPr id="212" name="Google Shape;212;p21" descr="image.png"/>
          <p:cNvPicPr preferRelativeResize="0">
            <a:picLocks noChangeAspect="1"/>
          </p:cNvPicPr>
          <p:nvPr/>
        </p:nvPicPr>
        <p:blipFill rotWithShape="1">
          <a:blip r:embed="rId5">
            <a:alphaModFix/>
          </a:blip>
          <a:srcRect/>
          <a:stretch/>
        </p:blipFill>
        <p:spPr>
          <a:xfrm>
            <a:off x="557964" y="4440139"/>
            <a:ext cx="351924" cy="419602"/>
          </a:xfrm>
          <a:prstGeom prst="rect">
            <a:avLst/>
          </a:prstGeom>
          <a:noFill/>
          <a:ln>
            <a:noFill/>
          </a:ln>
        </p:spPr>
      </p:pic>
      <p:pic>
        <p:nvPicPr>
          <p:cNvPr id="213" name="Google Shape;213;p21" descr="image.png"/>
          <p:cNvPicPr preferRelativeResize="0">
            <a:picLocks noChangeAspect="1"/>
          </p:cNvPicPr>
          <p:nvPr/>
        </p:nvPicPr>
        <p:blipFill rotWithShape="1">
          <a:blip r:embed="rId6">
            <a:alphaModFix/>
          </a:blip>
          <a:srcRect/>
          <a:stretch/>
        </p:blipFill>
        <p:spPr>
          <a:xfrm>
            <a:off x="557964" y="5332436"/>
            <a:ext cx="351924" cy="419602"/>
          </a:xfrm>
          <a:prstGeom prst="rect">
            <a:avLst/>
          </a:prstGeom>
          <a:noFill/>
          <a:ln>
            <a:noFill/>
          </a:ln>
        </p:spPr>
      </p:pic>
      <p:sp>
        <p:nvSpPr>
          <p:cNvPr id="214" name="Google Shape;214;p21"/>
          <p:cNvSpPr txBox="1"/>
          <p:nvPr/>
        </p:nvSpPr>
        <p:spPr>
          <a:xfrm>
            <a:off x="809625" y="571500"/>
            <a:ext cx="11351418"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F172A"/>
                </a:solidFill>
                <a:latin typeface="Poppins" pitchFamily="2" charset="77"/>
                <a:ea typeface="Plus Jakarta Sans"/>
                <a:cs typeface="Poppins" pitchFamily="2" charset="77"/>
                <a:sym typeface="Plus Jakarta Sans"/>
              </a:rPr>
              <a:t>Introducing GitHub</a:t>
            </a:r>
            <a:endParaRPr sz="1600" dirty="0">
              <a:latin typeface="Poppins" pitchFamily="2" charset="77"/>
              <a:cs typeface="Poppins" pitchFamily="2" charset="77"/>
            </a:endParaRPr>
          </a:p>
        </p:txBody>
      </p:sp>
      <p:sp>
        <p:nvSpPr>
          <p:cNvPr id="215" name="Google Shape;215;p21"/>
          <p:cNvSpPr/>
          <p:nvPr/>
        </p:nvSpPr>
        <p:spPr>
          <a:xfrm>
            <a:off x="571500" y="571500"/>
            <a:ext cx="95250" cy="5334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216" name="Google Shape;216;p23" descr="image.png"/>
          <p:cNvPicPr preferRelativeResize="0">
            <a:picLocks noChangeAspect="1"/>
          </p:cNvPicPr>
          <p:nvPr/>
        </p:nvPicPr>
        <p:blipFill rotWithShape="1">
          <a:blip r:embed="rId3">
            <a:alphaModFix/>
          </a:blip>
          <a:srcRect/>
          <a:stretch/>
        </p:blipFill>
        <p:spPr>
          <a:xfrm>
            <a:off x="179611" y="1957387"/>
            <a:ext cx="3824415" cy="4318052"/>
          </a:xfrm>
          <a:prstGeom prst="rect">
            <a:avLst/>
          </a:prstGeom>
          <a:noFill/>
          <a:ln>
            <a:noFill/>
          </a:ln>
        </p:spPr>
      </p:pic>
      <p:pic>
        <p:nvPicPr>
          <p:cNvPr id="217" name="Google Shape;217;p23" descr="image.png"/>
          <p:cNvPicPr preferRelativeResize="0">
            <a:picLocks noChangeAspect="1"/>
          </p:cNvPicPr>
          <p:nvPr/>
        </p:nvPicPr>
        <p:blipFill rotWithShape="1">
          <a:blip r:embed="rId4">
            <a:alphaModFix/>
          </a:blip>
          <a:srcRect/>
          <a:stretch/>
        </p:blipFill>
        <p:spPr>
          <a:xfrm>
            <a:off x="4193043" y="1957387"/>
            <a:ext cx="3824415" cy="4318052"/>
          </a:xfrm>
          <a:prstGeom prst="rect">
            <a:avLst/>
          </a:prstGeom>
          <a:noFill/>
          <a:ln>
            <a:noFill/>
          </a:ln>
        </p:spPr>
      </p:pic>
      <p:pic>
        <p:nvPicPr>
          <p:cNvPr id="218" name="Google Shape;218;p23" descr="image.png"/>
          <p:cNvPicPr preferRelativeResize="0">
            <a:picLocks noChangeAspect="1"/>
          </p:cNvPicPr>
          <p:nvPr/>
        </p:nvPicPr>
        <p:blipFill rotWithShape="1">
          <a:blip r:embed="rId5">
            <a:alphaModFix/>
          </a:blip>
          <a:srcRect/>
          <a:stretch/>
        </p:blipFill>
        <p:spPr>
          <a:xfrm>
            <a:off x="8193414" y="1957387"/>
            <a:ext cx="3824415" cy="4318052"/>
          </a:xfrm>
          <a:prstGeom prst="rect">
            <a:avLst/>
          </a:prstGeom>
          <a:noFill/>
          <a:ln>
            <a:noFill/>
          </a:ln>
        </p:spPr>
      </p:pic>
      <p:sp>
        <p:nvSpPr>
          <p:cNvPr id="220" name="Google Shape;220;p23"/>
          <p:cNvSpPr txBox="1"/>
          <p:nvPr/>
        </p:nvSpPr>
        <p:spPr>
          <a:xfrm>
            <a:off x="452342" y="3109912"/>
            <a:ext cx="2947087"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0" i="0" u="none" strike="noStrike" cap="none" dirty="0">
                <a:solidFill>
                  <a:srgbClr val="2563EB"/>
                </a:solidFill>
                <a:latin typeface="Poppins SemiBold"/>
                <a:ea typeface="Poppins SemiBold"/>
                <a:cs typeface="Poppins SemiBold"/>
                <a:sym typeface="Poppins SemiBold"/>
              </a:rPr>
              <a:t>Version Control</a:t>
            </a:r>
            <a:endParaRPr sz="1600" dirty="0"/>
          </a:p>
        </p:txBody>
      </p:sp>
      <p:sp>
        <p:nvSpPr>
          <p:cNvPr id="221" name="Google Shape;221;p23"/>
          <p:cNvSpPr txBox="1"/>
          <p:nvPr/>
        </p:nvSpPr>
        <p:spPr>
          <a:xfrm>
            <a:off x="522511" y="3776662"/>
            <a:ext cx="2806749" cy="23083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0" i="0" u="none" strike="noStrike" cap="none" dirty="0">
                <a:solidFill>
                  <a:srgbClr val="475569"/>
                </a:solidFill>
                <a:latin typeface="Lato"/>
                <a:ea typeface="Lato"/>
                <a:cs typeface="Lato"/>
                <a:sym typeface="Lato"/>
              </a:rPr>
              <a:t>A cloud-based platform to </a:t>
            </a:r>
            <a:r>
              <a:rPr lang="en-US" sz="2000" b="1" i="0" u="none" strike="noStrike" cap="none" dirty="0">
                <a:solidFill>
                  <a:srgbClr val="475569"/>
                </a:solidFill>
                <a:latin typeface="Lato"/>
                <a:ea typeface="Lato"/>
                <a:cs typeface="Lato"/>
                <a:sym typeface="Lato"/>
              </a:rPr>
              <a:t>store </a:t>
            </a:r>
            <a:r>
              <a:rPr lang="en-US" sz="2000" b="0" i="0" u="none" strike="noStrike" cap="none" dirty="0">
                <a:solidFill>
                  <a:srgbClr val="475569"/>
                </a:solidFill>
                <a:latin typeface="Lato"/>
                <a:ea typeface="Lato"/>
                <a:cs typeface="Lato"/>
                <a:sym typeface="Lato"/>
              </a:rPr>
              <a:t>pipeline code and container "recipes" (</a:t>
            </a:r>
            <a:r>
              <a:rPr lang="en-US" sz="2000" b="0" i="0" u="none" strike="noStrike" cap="none" dirty="0" err="1">
                <a:solidFill>
                  <a:srgbClr val="475569"/>
                </a:solidFill>
                <a:latin typeface="Lato"/>
                <a:ea typeface="Lato"/>
                <a:cs typeface="Lato"/>
                <a:sym typeface="Lato"/>
              </a:rPr>
              <a:t>Dockerfiles</a:t>
            </a:r>
            <a:r>
              <a:rPr lang="en-US" sz="2000" b="0" i="0" u="none" strike="noStrike" cap="none" dirty="0">
                <a:solidFill>
                  <a:srgbClr val="475569"/>
                </a:solidFill>
                <a:latin typeface="Lato"/>
                <a:ea typeface="Lato"/>
                <a:cs typeface="Lato"/>
                <a:sym typeface="Lato"/>
              </a:rPr>
              <a:t>) with </a:t>
            </a:r>
            <a:r>
              <a:rPr lang="en-US" sz="2000" b="1" i="0" u="none" strike="noStrike" cap="none" dirty="0">
                <a:solidFill>
                  <a:srgbClr val="475569"/>
                </a:solidFill>
                <a:latin typeface="Lato"/>
                <a:ea typeface="Lato"/>
                <a:cs typeface="Lato"/>
                <a:sym typeface="Lato"/>
              </a:rPr>
              <a:t>full history tracking</a:t>
            </a:r>
            <a:r>
              <a:rPr lang="en-US" sz="2000" b="0" i="0" u="none" strike="noStrike" cap="none" dirty="0">
                <a:solidFill>
                  <a:srgbClr val="475569"/>
                </a:solidFill>
                <a:latin typeface="Lato"/>
                <a:ea typeface="Lato"/>
                <a:cs typeface="Lato"/>
                <a:sym typeface="Lato"/>
              </a:rPr>
              <a:t>.</a:t>
            </a:r>
            <a:endParaRPr sz="1800" dirty="0"/>
          </a:p>
        </p:txBody>
      </p:sp>
      <p:sp>
        <p:nvSpPr>
          <p:cNvPr id="222" name="Google Shape;222;p23"/>
          <p:cNvSpPr txBox="1"/>
          <p:nvPr/>
        </p:nvSpPr>
        <p:spPr>
          <a:xfrm>
            <a:off x="4465774" y="3109912"/>
            <a:ext cx="2947087"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0" i="0" u="none" strike="noStrike" cap="none" dirty="0">
                <a:solidFill>
                  <a:srgbClr val="2563EB"/>
                </a:solidFill>
                <a:latin typeface="Poppins SemiBold"/>
                <a:ea typeface="Poppins SemiBold"/>
                <a:cs typeface="Poppins SemiBold"/>
                <a:sym typeface="Poppins SemiBold"/>
              </a:rPr>
              <a:t>Collaboration</a:t>
            </a:r>
            <a:endParaRPr sz="1600" dirty="0"/>
          </a:p>
        </p:txBody>
      </p:sp>
      <p:sp>
        <p:nvSpPr>
          <p:cNvPr id="223" name="Google Shape;223;p23"/>
          <p:cNvSpPr txBox="1"/>
          <p:nvPr/>
        </p:nvSpPr>
        <p:spPr>
          <a:xfrm>
            <a:off x="4535943" y="3776662"/>
            <a:ext cx="2806749" cy="23083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0" i="0" u="none" strike="noStrike" cap="none" dirty="0">
                <a:solidFill>
                  <a:srgbClr val="475569"/>
                </a:solidFill>
                <a:latin typeface="Lato"/>
                <a:ea typeface="Lato"/>
                <a:cs typeface="Lato"/>
                <a:sym typeface="Lato"/>
              </a:rPr>
              <a:t>Enables teams to review code, track issues, and manage scientific tasks in </a:t>
            </a:r>
            <a:r>
              <a:rPr lang="en-US" sz="2000" b="1" i="0" u="none" strike="noStrike" cap="none" dirty="0">
                <a:solidFill>
                  <a:srgbClr val="475569"/>
                </a:solidFill>
                <a:latin typeface="Lato"/>
                <a:ea typeface="Lato"/>
                <a:cs typeface="Lato"/>
                <a:sym typeface="Lato"/>
              </a:rPr>
              <a:t>a single centralized environment</a:t>
            </a:r>
            <a:r>
              <a:rPr lang="en-US" sz="2000" b="0" i="0" u="none" strike="noStrike" cap="none" dirty="0">
                <a:solidFill>
                  <a:srgbClr val="475569"/>
                </a:solidFill>
                <a:latin typeface="Lato"/>
                <a:ea typeface="Lato"/>
                <a:cs typeface="Lato"/>
                <a:sym typeface="Lato"/>
              </a:rPr>
              <a:t>.</a:t>
            </a:r>
            <a:endParaRPr sz="1800" dirty="0"/>
          </a:p>
        </p:txBody>
      </p:sp>
      <p:sp>
        <p:nvSpPr>
          <p:cNvPr id="224" name="Google Shape;224;p23"/>
          <p:cNvSpPr txBox="1"/>
          <p:nvPr/>
        </p:nvSpPr>
        <p:spPr>
          <a:xfrm>
            <a:off x="8466145" y="3109912"/>
            <a:ext cx="2947087"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0" i="0" u="none" strike="noStrike" cap="none" dirty="0">
                <a:solidFill>
                  <a:srgbClr val="2563EB"/>
                </a:solidFill>
                <a:latin typeface="Poppins SemiBold"/>
                <a:ea typeface="Poppins SemiBold"/>
                <a:cs typeface="Poppins SemiBold"/>
                <a:sym typeface="Poppins SemiBold"/>
              </a:rPr>
              <a:t>Provenance</a:t>
            </a:r>
            <a:endParaRPr sz="1600" dirty="0"/>
          </a:p>
        </p:txBody>
      </p:sp>
      <p:sp>
        <p:nvSpPr>
          <p:cNvPr id="225" name="Google Shape;225;p23"/>
          <p:cNvSpPr txBox="1"/>
          <p:nvPr/>
        </p:nvSpPr>
        <p:spPr>
          <a:xfrm>
            <a:off x="8536314" y="3776662"/>
            <a:ext cx="2806749" cy="23083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0" i="0" u="none" strike="noStrike" cap="none" dirty="0">
                <a:solidFill>
                  <a:srgbClr val="475569"/>
                </a:solidFill>
                <a:latin typeface="Lato"/>
                <a:ea typeface="Lato"/>
                <a:cs typeface="Lato"/>
                <a:sym typeface="Lato"/>
              </a:rPr>
              <a:t>Ensures every analytical result can be </a:t>
            </a:r>
            <a:r>
              <a:rPr lang="en-US" sz="2000" b="1" i="0" u="none" strike="noStrike" cap="none" dirty="0">
                <a:solidFill>
                  <a:srgbClr val="475569"/>
                </a:solidFill>
                <a:latin typeface="Lato"/>
                <a:ea typeface="Lato"/>
                <a:cs typeface="Lato"/>
                <a:sym typeface="Lato"/>
              </a:rPr>
              <a:t>traced back to the exact version</a:t>
            </a:r>
            <a:r>
              <a:rPr lang="en-US" sz="2000" b="0" i="0" u="none" strike="noStrike" cap="none" dirty="0">
                <a:solidFill>
                  <a:srgbClr val="475569"/>
                </a:solidFill>
                <a:latin typeface="Lato"/>
                <a:ea typeface="Lato"/>
                <a:cs typeface="Lato"/>
                <a:sym typeface="Lato"/>
              </a:rPr>
              <a:t> of the code used during processing.</a:t>
            </a:r>
            <a:endParaRPr sz="1800" dirty="0"/>
          </a:p>
        </p:txBody>
      </p:sp>
      <p:pic>
        <p:nvPicPr>
          <p:cNvPr id="226" name="Google Shape;226;p23" descr="image.png"/>
          <p:cNvPicPr preferRelativeResize="0"/>
          <p:nvPr/>
        </p:nvPicPr>
        <p:blipFill rotWithShape="1">
          <a:blip r:embed="rId6">
            <a:alphaModFix/>
          </a:blip>
          <a:srcRect/>
          <a:stretch/>
        </p:blipFill>
        <p:spPr>
          <a:xfrm>
            <a:off x="1716261" y="2347912"/>
            <a:ext cx="419100" cy="476250"/>
          </a:xfrm>
          <a:prstGeom prst="rect">
            <a:avLst/>
          </a:prstGeom>
          <a:noFill/>
          <a:ln>
            <a:noFill/>
          </a:ln>
        </p:spPr>
      </p:pic>
      <p:pic>
        <p:nvPicPr>
          <p:cNvPr id="227" name="Google Shape;227;p23" descr="image.png"/>
          <p:cNvPicPr preferRelativeResize="0"/>
          <p:nvPr/>
        </p:nvPicPr>
        <p:blipFill rotWithShape="1">
          <a:blip r:embed="rId7">
            <a:alphaModFix/>
          </a:blip>
          <a:srcRect/>
          <a:stretch/>
        </p:blipFill>
        <p:spPr>
          <a:xfrm>
            <a:off x="5639206" y="2347912"/>
            <a:ext cx="600075" cy="476250"/>
          </a:xfrm>
          <a:prstGeom prst="rect">
            <a:avLst/>
          </a:prstGeom>
          <a:noFill/>
          <a:ln>
            <a:noFill/>
          </a:ln>
        </p:spPr>
      </p:pic>
      <p:pic>
        <p:nvPicPr>
          <p:cNvPr id="228" name="Google Shape;228;p23" descr="image.png"/>
          <p:cNvPicPr preferRelativeResize="0"/>
          <p:nvPr/>
        </p:nvPicPr>
        <p:blipFill rotWithShape="1">
          <a:blip r:embed="rId8">
            <a:alphaModFix/>
          </a:blip>
          <a:srcRect/>
          <a:stretch/>
        </p:blipFill>
        <p:spPr>
          <a:xfrm>
            <a:off x="9701489" y="2347912"/>
            <a:ext cx="476250" cy="476250"/>
          </a:xfrm>
          <a:prstGeom prst="rect">
            <a:avLst/>
          </a:prstGeom>
          <a:noFill/>
          <a:ln>
            <a:noFill/>
          </a:ln>
        </p:spPr>
      </p:pic>
      <p:sp>
        <p:nvSpPr>
          <p:cNvPr id="229" name="Google Shape;229;p23"/>
          <p:cNvSpPr txBox="1"/>
          <p:nvPr/>
        </p:nvSpPr>
        <p:spPr>
          <a:xfrm>
            <a:off x="809625" y="571500"/>
            <a:ext cx="11351418"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F172A"/>
                </a:solidFill>
                <a:latin typeface="Poppins SemiBold"/>
                <a:ea typeface="Poppins SemiBold"/>
                <a:cs typeface="Poppins SemiBold"/>
                <a:sym typeface="Poppins SemiBold"/>
              </a:rPr>
              <a:t>GitHub: The Central Hub</a:t>
            </a:r>
            <a:endParaRPr sz="1600" b="1" dirty="0"/>
          </a:p>
        </p:txBody>
      </p:sp>
      <p:sp>
        <p:nvSpPr>
          <p:cNvPr id="230" name="Google Shape;230;p23"/>
          <p:cNvSpPr/>
          <p:nvPr/>
        </p:nvSpPr>
        <p:spPr>
          <a:xfrm>
            <a:off x="571500" y="571500"/>
            <a:ext cx="95250" cy="619125"/>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41" name="Google Shape;241;p23" descr="image.png"/>
          <p:cNvPicPr preferRelativeResize="0"/>
          <p:nvPr/>
        </p:nvPicPr>
        <p:blipFill rotWithShape="1">
          <a:blip r:embed="rId3">
            <a:alphaModFix/>
          </a:blip>
          <a:srcRect/>
          <a:stretch/>
        </p:blipFill>
        <p:spPr>
          <a:xfrm>
            <a:off x="571500" y="1981200"/>
            <a:ext cx="3810000" cy="3810000"/>
          </a:xfrm>
          <a:prstGeom prst="rect">
            <a:avLst/>
          </a:prstGeom>
          <a:noFill/>
          <a:ln>
            <a:noFill/>
          </a:ln>
        </p:spPr>
      </p:pic>
      <p:pic>
        <p:nvPicPr>
          <p:cNvPr id="242" name="Google Shape;242;p23" descr="image.png"/>
          <p:cNvPicPr preferRelativeResize="0"/>
          <p:nvPr/>
        </p:nvPicPr>
        <p:blipFill rotWithShape="1">
          <a:blip r:embed="rId4">
            <a:alphaModFix/>
          </a:blip>
          <a:srcRect/>
          <a:stretch/>
        </p:blipFill>
        <p:spPr>
          <a:xfrm>
            <a:off x="0" y="6781800"/>
            <a:ext cx="8382000" cy="76200"/>
          </a:xfrm>
          <a:prstGeom prst="rect">
            <a:avLst/>
          </a:prstGeom>
          <a:noFill/>
          <a:ln>
            <a:noFill/>
          </a:ln>
        </p:spPr>
      </p:pic>
      <p:pic>
        <p:nvPicPr>
          <p:cNvPr id="243" name="Google Shape;243;p23" descr="image.png"/>
          <p:cNvPicPr preferRelativeResize="0"/>
          <p:nvPr/>
        </p:nvPicPr>
        <p:blipFill rotWithShape="1">
          <a:blip r:embed="rId5">
            <a:alphaModFix/>
          </a:blip>
          <a:srcRect/>
          <a:stretch/>
        </p:blipFill>
        <p:spPr>
          <a:xfrm>
            <a:off x="581025" y="1990725"/>
            <a:ext cx="3790950" cy="3790950"/>
          </a:xfrm>
          <a:prstGeom prst="rect">
            <a:avLst/>
          </a:prstGeom>
          <a:noFill/>
          <a:ln>
            <a:noFill/>
          </a:ln>
        </p:spPr>
      </p:pic>
      <p:sp>
        <p:nvSpPr>
          <p:cNvPr id="244" name="Google Shape;244;p23"/>
          <p:cNvSpPr txBox="1"/>
          <p:nvPr/>
        </p:nvSpPr>
        <p:spPr>
          <a:xfrm>
            <a:off x="5472822" y="2747962"/>
            <a:ext cx="5550693"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1" i="0" u="none" strike="noStrike" cap="none" dirty="0">
                <a:solidFill>
                  <a:srgbClr val="2563EB"/>
                </a:solidFill>
                <a:latin typeface="Poppins" pitchFamily="2" charset="77"/>
                <a:ea typeface="Lato" panose="020F0502020204030203" pitchFamily="34" charset="0"/>
                <a:cs typeface="Poppins" pitchFamily="2" charset="77"/>
                <a:sym typeface="Plus Jakarta Sans SemiBold"/>
              </a:rPr>
              <a:t>A Research Suite</a:t>
            </a:r>
            <a:endParaRPr sz="1600" b="1" dirty="0">
              <a:latin typeface="Poppins" pitchFamily="2" charset="77"/>
              <a:ea typeface="Lato" panose="020F0502020204030203" pitchFamily="34" charset="0"/>
              <a:cs typeface="Poppins" pitchFamily="2" charset="77"/>
            </a:endParaRPr>
          </a:p>
        </p:txBody>
      </p:sp>
      <p:sp>
        <p:nvSpPr>
          <p:cNvPr id="245" name="Google Shape;245;p23"/>
          <p:cNvSpPr txBox="1"/>
          <p:nvPr/>
        </p:nvSpPr>
        <p:spPr>
          <a:xfrm>
            <a:off x="6140370" y="3695687"/>
            <a:ext cx="5121797"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1" i="0" u="none" strike="noStrike" cap="none" dirty="0">
                <a:solidFill>
                  <a:srgbClr val="475569"/>
                </a:solidFill>
                <a:latin typeface="Lato" panose="020F0502020204030203" pitchFamily="34" charset="0"/>
                <a:ea typeface="Lato" panose="020F0502020204030203" pitchFamily="34" charset="0"/>
                <a:cs typeface="Lato" panose="020F0502020204030203" pitchFamily="34" charset="0"/>
                <a:sym typeface="Inter"/>
              </a:rPr>
              <a:t>Documentation:</a:t>
            </a:r>
            <a:r>
              <a:rPr lang="en-US" sz="2400" b="0" i="0" u="none" strike="noStrike" cap="none" dirty="0">
                <a:solidFill>
                  <a:srgbClr val="475569"/>
                </a:solidFill>
                <a:latin typeface="Lato" panose="020F0502020204030203" pitchFamily="34" charset="0"/>
                <a:ea typeface="Lato" panose="020F0502020204030203" pitchFamily="34" charset="0"/>
                <a:cs typeface="Lato" panose="020F0502020204030203" pitchFamily="34" charset="0"/>
                <a:sym typeface="Inter"/>
              </a:rPr>
              <a:t> READMEs and Wikis</a:t>
            </a:r>
            <a:endParaRPr sz="1800" dirty="0">
              <a:latin typeface="Lato" panose="020F0502020204030203" pitchFamily="34" charset="0"/>
              <a:ea typeface="Lato" panose="020F0502020204030203" pitchFamily="34" charset="0"/>
              <a:cs typeface="Lato" panose="020F0502020204030203" pitchFamily="34" charset="0"/>
            </a:endParaRPr>
          </a:p>
        </p:txBody>
      </p:sp>
      <p:sp>
        <p:nvSpPr>
          <p:cNvPr id="246" name="Google Shape;246;p23"/>
          <p:cNvSpPr txBox="1"/>
          <p:nvPr/>
        </p:nvSpPr>
        <p:spPr>
          <a:xfrm>
            <a:off x="6140371" y="4457150"/>
            <a:ext cx="4762500"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1" i="0" u="none" strike="noStrike" cap="none" dirty="0">
                <a:solidFill>
                  <a:srgbClr val="475569"/>
                </a:solidFill>
                <a:latin typeface="Lato" panose="020F0502020204030203" pitchFamily="34" charset="0"/>
                <a:ea typeface="Lato" panose="020F0502020204030203" pitchFamily="34" charset="0"/>
                <a:cs typeface="Lato" panose="020F0502020204030203" pitchFamily="34" charset="0"/>
                <a:sym typeface="Inter"/>
              </a:rPr>
              <a:t>Project Management</a:t>
            </a:r>
            <a:endParaRPr sz="1800" dirty="0">
              <a:latin typeface="Lato" panose="020F0502020204030203" pitchFamily="34" charset="0"/>
              <a:ea typeface="Lato" panose="020F0502020204030203" pitchFamily="34" charset="0"/>
              <a:cs typeface="Lato" panose="020F0502020204030203" pitchFamily="34" charset="0"/>
            </a:endParaRPr>
          </a:p>
        </p:txBody>
      </p:sp>
      <p:sp>
        <p:nvSpPr>
          <p:cNvPr id="247" name="Google Shape;247;p23"/>
          <p:cNvSpPr txBox="1"/>
          <p:nvPr/>
        </p:nvSpPr>
        <p:spPr>
          <a:xfrm>
            <a:off x="6140370" y="5204568"/>
            <a:ext cx="5908875"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1" i="0" u="none" strike="noStrike" cap="none" dirty="0">
                <a:solidFill>
                  <a:srgbClr val="475569"/>
                </a:solidFill>
                <a:latin typeface="Lato" panose="020F0502020204030203" pitchFamily="34" charset="0"/>
                <a:ea typeface="Lato" panose="020F0502020204030203" pitchFamily="34" charset="0"/>
                <a:cs typeface="Lato" panose="020F0502020204030203" pitchFamily="34" charset="0"/>
                <a:sym typeface="Inter"/>
              </a:rPr>
              <a:t>GitHub Pages:</a:t>
            </a:r>
            <a:r>
              <a:rPr lang="en-US" sz="2400" b="0" i="0" u="none" strike="noStrike" cap="none" dirty="0">
                <a:solidFill>
                  <a:srgbClr val="475569"/>
                </a:solidFill>
                <a:latin typeface="Lato" panose="020F0502020204030203" pitchFamily="34" charset="0"/>
                <a:ea typeface="Lato" panose="020F0502020204030203" pitchFamily="34" charset="0"/>
                <a:cs typeface="Lato" panose="020F0502020204030203" pitchFamily="34" charset="0"/>
                <a:sym typeface="Inter"/>
              </a:rPr>
              <a:t> Host lab websites, tutorials</a:t>
            </a:r>
            <a:endParaRPr sz="1800" dirty="0">
              <a:latin typeface="Lato" panose="020F0502020204030203" pitchFamily="34" charset="0"/>
              <a:ea typeface="Lato" panose="020F0502020204030203" pitchFamily="34" charset="0"/>
              <a:cs typeface="Lato" panose="020F0502020204030203" pitchFamily="34" charset="0"/>
            </a:endParaRPr>
          </a:p>
        </p:txBody>
      </p:sp>
      <p:pic>
        <p:nvPicPr>
          <p:cNvPr id="248" name="Google Shape;248;p23" descr="image.png"/>
          <p:cNvPicPr preferRelativeResize="0">
            <a:picLocks noChangeAspect="1"/>
          </p:cNvPicPr>
          <p:nvPr/>
        </p:nvPicPr>
        <p:blipFill rotWithShape="1">
          <a:blip r:embed="rId6">
            <a:alphaModFix/>
          </a:blip>
          <a:srcRect/>
          <a:stretch/>
        </p:blipFill>
        <p:spPr>
          <a:xfrm>
            <a:off x="5495973" y="3686662"/>
            <a:ext cx="402341" cy="479714"/>
          </a:xfrm>
          <a:prstGeom prst="rect">
            <a:avLst/>
          </a:prstGeom>
          <a:noFill/>
          <a:ln>
            <a:noFill/>
          </a:ln>
        </p:spPr>
      </p:pic>
      <p:pic>
        <p:nvPicPr>
          <p:cNvPr id="249" name="Google Shape;249;p23" descr="image.png"/>
          <p:cNvPicPr preferRelativeResize="0">
            <a:picLocks noChangeAspect="1"/>
          </p:cNvPicPr>
          <p:nvPr/>
        </p:nvPicPr>
        <p:blipFill rotWithShape="1">
          <a:blip r:embed="rId7">
            <a:alphaModFix/>
          </a:blip>
          <a:srcRect/>
          <a:stretch/>
        </p:blipFill>
        <p:spPr>
          <a:xfrm>
            <a:off x="5495973" y="4458137"/>
            <a:ext cx="464240" cy="479715"/>
          </a:xfrm>
          <a:prstGeom prst="rect">
            <a:avLst/>
          </a:prstGeom>
          <a:noFill/>
          <a:ln>
            <a:noFill/>
          </a:ln>
        </p:spPr>
      </p:pic>
      <p:pic>
        <p:nvPicPr>
          <p:cNvPr id="250" name="Google Shape;250;p23" descr="image.png"/>
          <p:cNvPicPr preferRelativeResize="0">
            <a:picLocks noChangeAspect="1"/>
          </p:cNvPicPr>
          <p:nvPr/>
        </p:nvPicPr>
        <p:blipFill rotWithShape="1">
          <a:blip r:embed="rId8">
            <a:alphaModFix/>
          </a:blip>
          <a:srcRect/>
          <a:stretch/>
        </p:blipFill>
        <p:spPr>
          <a:xfrm>
            <a:off x="5495973" y="5195543"/>
            <a:ext cx="464240" cy="479715"/>
          </a:xfrm>
          <a:prstGeom prst="rect">
            <a:avLst/>
          </a:prstGeom>
          <a:noFill/>
          <a:ln>
            <a:noFill/>
          </a:ln>
        </p:spPr>
      </p:pic>
      <p:sp>
        <p:nvSpPr>
          <p:cNvPr id="251" name="Google Shape;251;p23"/>
          <p:cNvSpPr txBox="1"/>
          <p:nvPr/>
        </p:nvSpPr>
        <p:spPr>
          <a:xfrm>
            <a:off x="809625" y="571500"/>
            <a:ext cx="11351418"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F172A"/>
                </a:solidFill>
                <a:latin typeface="Poppins" pitchFamily="2" charset="77"/>
                <a:ea typeface="Plus Jakarta Sans"/>
                <a:cs typeface="Poppins" pitchFamily="2" charset="77"/>
                <a:sym typeface="Plus Jakarta Sans"/>
              </a:rPr>
              <a:t>Beyond Version Control</a:t>
            </a:r>
            <a:endParaRPr sz="1600" dirty="0">
              <a:latin typeface="Poppins" pitchFamily="2" charset="77"/>
              <a:cs typeface="Poppins" pitchFamily="2" charset="77"/>
            </a:endParaRPr>
          </a:p>
        </p:txBody>
      </p:sp>
      <p:sp>
        <p:nvSpPr>
          <p:cNvPr id="252" name="Google Shape;252;p23"/>
          <p:cNvSpPr/>
          <p:nvPr/>
        </p:nvSpPr>
        <p:spPr>
          <a:xfrm>
            <a:off x="571500" y="571500"/>
            <a:ext cx="95250" cy="5334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7" name="Google Shape;237;p24" descr="image.png"/>
          <p:cNvPicPr preferRelativeResize="0"/>
          <p:nvPr/>
        </p:nvPicPr>
        <p:blipFill rotWithShape="1">
          <a:blip r:embed="rId4">
            <a:alphaModFix/>
          </a:blip>
          <a:srcRect/>
          <a:stretch/>
        </p:blipFill>
        <p:spPr>
          <a:xfrm>
            <a:off x="0" y="6781800"/>
            <a:ext cx="10448478" cy="76200"/>
          </a:xfrm>
          <a:prstGeom prst="rect">
            <a:avLst/>
          </a:prstGeom>
          <a:noFill/>
          <a:ln>
            <a:noFill/>
          </a:ln>
        </p:spPr>
      </p:pic>
      <p:sp>
        <p:nvSpPr>
          <p:cNvPr id="238" name="Google Shape;238;p24"/>
          <p:cNvSpPr txBox="1"/>
          <p:nvPr/>
        </p:nvSpPr>
        <p:spPr>
          <a:xfrm>
            <a:off x="571500" y="2024062"/>
            <a:ext cx="5550693"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0" i="0" u="none" strike="noStrike" cap="none" dirty="0">
                <a:solidFill>
                  <a:srgbClr val="2563EB"/>
                </a:solidFill>
                <a:latin typeface="Poppins SemiBold"/>
                <a:ea typeface="Poppins SemiBold"/>
                <a:cs typeface="Poppins SemiBold"/>
                <a:sym typeface="Poppins SemiBold"/>
              </a:rPr>
              <a:t>Seamless Integration</a:t>
            </a:r>
            <a:endParaRPr sz="1600" dirty="0"/>
          </a:p>
        </p:txBody>
      </p:sp>
      <p:sp>
        <p:nvSpPr>
          <p:cNvPr id="239" name="Google Shape;239;p24"/>
          <p:cNvSpPr txBox="1"/>
          <p:nvPr/>
        </p:nvSpPr>
        <p:spPr>
          <a:xfrm>
            <a:off x="571499" y="2690812"/>
            <a:ext cx="7542353" cy="92333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000" b="0" i="0" u="none" strike="noStrike" cap="none" dirty="0">
                <a:solidFill>
                  <a:srgbClr val="475569"/>
                </a:solidFill>
                <a:latin typeface="Lato"/>
                <a:ea typeface="Lato"/>
                <a:cs typeface="Lato"/>
                <a:sym typeface="Lato"/>
              </a:rPr>
              <a:t>GitHub integrates directly with WMS tools like </a:t>
            </a:r>
            <a:r>
              <a:rPr lang="en-US" sz="2000" b="0" i="0" u="none" strike="noStrike" cap="none" dirty="0" err="1">
                <a:solidFill>
                  <a:srgbClr val="475569"/>
                </a:solidFill>
                <a:latin typeface="Lato"/>
                <a:ea typeface="Lato"/>
                <a:cs typeface="Lato"/>
                <a:sym typeface="Lato"/>
              </a:rPr>
              <a:t>Nextflow</a:t>
            </a:r>
            <a:r>
              <a:rPr lang="en-US" sz="2000" b="0" i="0" u="none" strike="noStrike" cap="none" dirty="0">
                <a:solidFill>
                  <a:srgbClr val="475569"/>
                </a:solidFill>
                <a:latin typeface="Lato"/>
                <a:ea typeface="Lato"/>
                <a:cs typeface="Lato"/>
                <a:sym typeface="Lato"/>
              </a:rPr>
              <a:t>. You can run a pipeline directly from a repo with a single command:</a:t>
            </a:r>
            <a:endParaRPr sz="1800" dirty="0"/>
          </a:p>
        </p:txBody>
      </p:sp>
      <p:pic>
        <p:nvPicPr>
          <p:cNvPr id="240" name="Google Shape;240;p24" descr="image.png"/>
          <p:cNvPicPr preferRelativeResize="0"/>
          <p:nvPr/>
        </p:nvPicPr>
        <p:blipFill rotWithShape="1">
          <a:blip r:embed="rId5">
            <a:alphaModFix/>
          </a:blip>
          <a:srcRect/>
          <a:stretch/>
        </p:blipFill>
        <p:spPr>
          <a:xfrm>
            <a:off x="571500" y="3843337"/>
            <a:ext cx="5286375" cy="542925"/>
          </a:xfrm>
          <a:prstGeom prst="rect">
            <a:avLst/>
          </a:prstGeom>
          <a:noFill/>
          <a:ln>
            <a:noFill/>
          </a:ln>
        </p:spPr>
      </p:pic>
      <p:sp>
        <p:nvSpPr>
          <p:cNvPr id="241" name="Google Shape;241;p24"/>
          <p:cNvSpPr txBox="1"/>
          <p:nvPr/>
        </p:nvSpPr>
        <p:spPr>
          <a:xfrm>
            <a:off x="571500" y="4576762"/>
            <a:ext cx="7426606" cy="76174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dirty="0">
                <a:solidFill>
                  <a:srgbClr val="475569"/>
                </a:solidFill>
                <a:latin typeface="Lato"/>
                <a:ea typeface="Lato"/>
                <a:cs typeface="Lato"/>
                <a:sym typeface="Lato"/>
              </a:rPr>
              <a:t>It also hosts container registries (GitHub Packages), linking your analysis code to the software images it requires.</a:t>
            </a:r>
            <a:endParaRPr dirty="0"/>
          </a:p>
        </p:txBody>
      </p:sp>
      <p:sp>
        <p:nvSpPr>
          <p:cNvPr id="243" name="Google Shape;243;p24"/>
          <p:cNvSpPr txBox="1"/>
          <p:nvPr/>
        </p:nvSpPr>
        <p:spPr>
          <a:xfrm>
            <a:off x="809625" y="571500"/>
            <a:ext cx="11351418"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F172A"/>
                </a:solidFill>
                <a:latin typeface="Poppins SemiBold"/>
                <a:ea typeface="Poppins SemiBold"/>
                <a:cs typeface="Poppins SemiBold"/>
                <a:sym typeface="Poppins SemiBold"/>
              </a:rPr>
              <a:t>GitHub as the Glue</a:t>
            </a:r>
            <a:endParaRPr sz="1600" b="1" dirty="0"/>
          </a:p>
        </p:txBody>
      </p:sp>
      <p:sp>
        <p:nvSpPr>
          <p:cNvPr id="244" name="Google Shape;244;p24"/>
          <p:cNvSpPr/>
          <p:nvPr/>
        </p:nvSpPr>
        <p:spPr>
          <a:xfrm>
            <a:off x="571500" y="571500"/>
            <a:ext cx="95250" cy="619125"/>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6"/>
        <p:cNvGrpSpPr/>
        <p:nvPr/>
      </p:nvGrpSpPr>
      <p:grpSpPr>
        <a:xfrm>
          <a:off x="0" y="0"/>
          <a:ext cx="0" cy="0"/>
          <a:chOff x="0" y="0"/>
          <a:chExt cx="0" cy="0"/>
        </a:xfrm>
      </p:grpSpPr>
      <p:pic>
        <p:nvPicPr>
          <p:cNvPr id="207" name="Google Shape;207;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8" name="Google Shape;208;p23"/>
          <p:cNvSpPr txBox="1"/>
          <p:nvPr/>
        </p:nvSpPr>
        <p:spPr>
          <a:xfrm>
            <a:off x="571500" y="2815530"/>
            <a:ext cx="11049000" cy="747897"/>
          </a:xfrm>
          <a:prstGeom prst="rect">
            <a:avLst/>
          </a:prstGeom>
          <a:noFill/>
          <a:ln>
            <a:noFill/>
          </a:ln>
        </p:spPr>
        <p:txBody>
          <a:bodyPr spcFirstLastPara="1" wrap="square" lIns="0" tIns="0" rIns="0" bIns="0" anchor="t" anchorCtr="0">
            <a:spAutoFit/>
          </a:bodyPr>
          <a:lstStyle/>
          <a:p>
            <a:pPr marL="0" marR="0" lvl="0" indent="0" algn="ctr" rtl="0">
              <a:lnSpc>
                <a:spcPct val="119975"/>
              </a:lnSpc>
              <a:spcBef>
                <a:spcPts val="0"/>
              </a:spcBef>
              <a:spcAft>
                <a:spcPts val="0"/>
              </a:spcAft>
              <a:buNone/>
            </a:pPr>
            <a:r>
              <a:rPr lang="en-US" sz="4050" b="0" i="1" u="none" strike="noStrike" cap="none" dirty="0">
                <a:solidFill>
                  <a:srgbClr val="2463EC"/>
                </a:solidFill>
                <a:latin typeface="Poppins"/>
                <a:ea typeface="Poppins"/>
                <a:cs typeface="Poppins"/>
                <a:sym typeface="Poppins"/>
              </a:rPr>
              <a:t> ”Well, it worked on my machine!" </a:t>
            </a:r>
            <a:endParaRPr dirty="0">
              <a:solidFill>
                <a:srgbClr val="2463EC"/>
              </a:solidFill>
            </a:endParaRPr>
          </a:p>
        </p:txBody>
      </p:sp>
      <p:sp>
        <p:nvSpPr>
          <p:cNvPr id="209" name="Google Shape;209;p23"/>
          <p:cNvSpPr txBox="1"/>
          <p:nvPr/>
        </p:nvSpPr>
        <p:spPr>
          <a:xfrm>
            <a:off x="571500" y="3718470"/>
            <a:ext cx="11049000"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64748B"/>
                </a:solidFill>
                <a:latin typeface="Lato"/>
                <a:ea typeface="Lato"/>
                <a:cs typeface="Lato"/>
                <a:sym typeface="Lato"/>
              </a:rPr>
              <a:t>— Famous Last Words in Research</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5980A-5BC2-3F38-C5E0-CD96DE61C073}"/>
              </a:ext>
            </a:extLst>
          </p:cNvPr>
          <p:cNvSpPr>
            <a:spLocks noGrp="1"/>
          </p:cNvSpPr>
          <p:nvPr>
            <p:ph type="title"/>
          </p:nvPr>
        </p:nvSpPr>
        <p:spPr/>
        <p:txBody>
          <a:bodyPr/>
          <a:lstStyle/>
          <a:p>
            <a:pPr algn="l"/>
            <a:r>
              <a:rPr lang="en-US" dirty="0"/>
              <a:t>Lesson 2: Git &amp; </a:t>
            </a:r>
            <a:r>
              <a:rPr lang="en-US" dirty="0" err="1"/>
              <a:t>Github</a:t>
            </a:r>
            <a:r>
              <a:rPr lang="en-US" dirty="0"/>
              <a:t> </a:t>
            </a:r>
          </a:p>
        </p:txBody>
      </p:sp>
      <p:sp>
        <p:nvSpPr>
          <p:cNvPr id="3" name="Text Placeholder 2">
            <a:extLst>
              <a:ext uri="{FF2B5EF4-FFF2-40B4-BE49-F238E27FC236}">
                <a16:creationId xmlns:a16="http://schemas.microsoft.com/office/drawing/2014/main" id="{AA4BD7E1-3954-BD9F-B3DE-70B8FFD45026}"/>
              </a:ext>
            </a:extLst>
          </p:cNvPr>
          <p:cNvSpPr>
            <a:spLocks noGrp="1"/>
          </p:cNvSpPr>
          <p:nvPr>
            <p:ph type="body" idx="1"/>
          </p:nvPr>
        </p:nvSpPr>
        <p:spPr>
          <a:xfrm>
            <a:off x="457200" y="1600200"/>
            <a:ext cx="11145520" cy="4036671"/>
          </a:xfrm>
        </p:spPr>
        <p:txBody>
          <a:bodyPr/>
          <a:lstStyle/>
          <a:p>
            <a:r>
              <a:rPr lang="en-US" dirty="0"/>
              <a:t>Notebook: Lesson2_Git_Github.ipynb</a:t>
            </a:r>
          </a:p>
          <a:p>
            <a:endParaRPr lang="en-US" dirty="0"/>
          </a:p>
          <a:p>
            <a:pPr lvl="1"/>
            <a:r>
              <a:rPr lang="en-US" dirty="0"/>
              <a:t>Set up a </a:t>
            </a:r>
            <a:r>
              <a:rPr lang="en-US" dirty="0" err="1"/>
              <a:t>Github</a:t>
            </a:r>
            <a:r>
              <a:rPr lang="en-US" dirty="0"/>
              <a:t> Account</a:t>
            </a:r>
          </a:p>
          <a:p>
            <a:pPr lvl="1"/>
            <a:r>
              <a:rPr lang="en-US" dirty="0"/>
              <a:t>Connect your local Git repo to your </a:t>
            </a:r>
            <a:r>
              <a:rPr lang="en-US" dirty="0" err="1"/>
              <a:t>Github</a:t>
            </a:r>
            <a:endParaRPr lang="en-US" dirty="0"/>
          </a:p>
          <a:p>
            <a:endParaRPr lang="en-US" dirty="0"/>
          </a:p>
        </p:txBody>
      </p:sp>
    </p:spTree>
    <p:extLst>
      <p:ext uri="{BB962C8B-B14F-4D97-AF65-F5344CB8AC3E}">
        <p14:creationId xmlns:p14="http://schemas.microsoft.com/office/powerpoint/2010/main" val="57305543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1241</TotalTime>
  <Words>665</Words>
  <Application>Microsoft Macintosh PowerPoint</Application>
  <PresentationFormat>Widescreen</PresentationFormat>
  <Paragraphs>95</Paragraphs>
  <Slides>17</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Lato</vt:lpstr>
      <vt:lpstr>Poppins</vt:lpstr>
      <vt:lpstr>Poppins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Lesson 2: Git &amp; Github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Kirsten Grond</cp:lastModifiedBy>
  <cp:revision>5</cp:revision>
  <dcterms:modified xsi:type="dcterms:W3CDTF">2026-05-06T22:18:59Z</dcterms:modified>
</cp:coreProperties>
</file>