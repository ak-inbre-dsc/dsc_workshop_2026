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81" r:id="rId4"/>
    <p:sldId id="258" r:id="rId5"/>
    <p:sldId id="282" r:id="rId6"/>
    <p:sldId id="259" r:id="rId7"/>
    <p:sldId id="283" r:id="rId8"/>
    <p:sldId id="261" r:id="rId9"/>
    <p:sldId id="262" r:id="rId10"/>
    <p:sldId id="268" r:id="rId11"/>
    <p:sldId id="269" r:id="rId12"/>
    <p:sldId id="263" r:id="rId13"/>
    <p:sldId id="277" r:id="rId14"/>
    <p:sldId id="278" r:id="rId15"/>
    <p:sldId id="264" r:id="rId16"/>
    <p:sldId id="266" r:id="rId17"/>
    <p:sldId id="280" r:id="rId18"/>
  </p:sldIdLst>
  <p:sldSz cx="12192000" cy="6858000"/>
  <p:notesSz cx="6858000" cy="9144000"/>
  <p:embeddedFontLst>
    <p:embeddedFont>
      <p:font typeface="DM Sans" pitchFamily="2" charset="77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Merriweather" pitchFamily="2" charset="77"/>
      <p:regular r:id="rId28"/>
      <p:bold r:id="rId29"/>
      <p:italic r:id="rId30"/>
      <p:boldItalic r:id="rId31"/>
    </p:embeddedFont>
    <p:embeddedFont>
      <p:font typeface="Poppins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50"/>
    <p:restoredTop sz="94658"/>
  </p:normalViewPr>
  <p:slideViewPr>
    <p:cSldViewPr snapToGrid="0">
      <p:cViewPr varScale="1">
        <p:scale>
          <a:sx n="75" d="100"/>
          <a:sy n="75" d="100"/>
        </p:scale>
        <p:origin x="160" y="10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F870BF6-ADD6-8F0B-462C-0FF3D7F9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1315E43-D053-8665-9B93-6EC2E37B9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CBD2923A-4781-DEBA-58E6-29807547E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0282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59804-83CB-884E-BC5F-B948499752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6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Everyone works at a different pace. Will talk about second part of this topic at 10:15</a:t>
            </a:r>
          </a:p>
        </p:txBody>
      </p:sp>
    </p:spTree>
    <p:extLst>
      <p:ext uri="{BB962C8B-B14F-4D97-AF65-F5344CB8AC3E}">
        <p14:creationId xmlns:p14="http://schemas.microsoft.com/office/powerpoint/2010/main" val="2413870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 descr="A logo with hexagons and text&#10;&#10;Description automatically generated">
            <a:extLst>
              <a:ext uri="{FF2B5EF4-FFF2-40B4-BE49-F238E27FC236}">
                <a16:creationId xmlns:a16="http://schemas.microsoft.com/office/drawing/2014/main" id="{D2A71736-8975-6286-F508-EBD0F46E4E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85" y="-59158"/>
            <a:ext cx="1674865" cy="1674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 descr="A logo with hexagons and text&#10;&#10;Description automatically generated">
            <a:extLst>
              <a:ext uri="{FF2B5EF4-FFF2-40B4-BE49-F238E27FC236}">
                <a16:creationId xmlns:a16="http://schemas.microsoft.com/office/drawing/2014/main" id="{6226DA5A-8EFE-C823-5BE2-22673AAC94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85" y="-59158"/>
            <a:ext cx="1674865" cy="1674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 descr="A logo with hexagons and text&#10;&#10;Description automatically generated">
            <a:extLst>
              <a:ext uri="{FF2B5EF4-FFF2-40B4-BE49-F238E27FC236}">
                <a16:creationId xmlns:a16="http://schemas.microsoft.com/office/drawing/2014/main" id="{95138422-236F-61B5-F0F5-0108D87291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85" y="-59158"/>
            <a:ext cx="1674865" cy="167486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26695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Reproducible Research Principles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191000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Establishing trust, transparency, and continuity in science</a:t>
            </a:r>
            <a:endParaRPr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D9F51-FA8B-B32F-A5E3-440EA7838A33}"/>
              </a:ext>
            </a:extLst>
          </p:cNvPr>
          <p:cNvSpPr txBox="1"/>
          <p:nvPr/>
        </p:nvSpPr>
        <p:spPr>
          <a:xfrm>
            <a:off x="1399073" y="6252054"/>
            <a:ext cx="10894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tabLst>
                <a:tab pos="2971800" algn="ctr"/>
                <a:tab pos="5943600" algn="r"/>
              </a:tabLst>
            </a:pPr>
            <a:r>
              <a:rPr lang="en-US" sz="16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Alaska INBRE is an Institutional Development Award (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IDeA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from the National Institute of General Medical Sciences of the National Institute of Health (NIH) under grant number P20GM103395.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3D3E1D23-FA04-3F6B-4787-127B8D09B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21" y="6253345"/>
            <a:ext cx="1271752" cy="582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B713098-A2E8-2D8E-22EB-55C7A4192955}"/>
              </a:ext>
            </a:extLst>
          </p:cNvPr>
          <p:cNvGrpSpPr/>
          <p:nvPr/>
        </p:nvGrpSpPr>
        <p:grpSpPr>
          <a:xfrm>
            <a:off x="179006" y="6163362"/>
            <a:ext cx="11833988" cy="48307"/>
            <a:chOff x="179006" y="6163362"/>
            <a:chExt cx="11833988" cy="4830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ABB17E5-02F3-8AFF-C914-99D0DB91A33D}"/>
                </a:ext>
              </a:extLst>
            </p:cNvPr>
            <p:cNvCxnSpPr/>
            <p:nvPr/>
          </p:nvCxnSpPr>
          <p:spPr>
            <a:xfrm>
              <a:off x="179006" y="6211669"/>
              <a:ext cx="11833988" cy="0"/>
            </a:xfrm>
            <a:prstGeom prst="line">
              <a:avLst/>
            </a:prstGeom>
            <a:ln>
              <a:solidFill>
                <a:srgbClr val="FCCF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4E80E3-C9C0-4459-185B-2E20BC819A0F}"/>
                </a:ext>
              </a:extLst>
            </p:cNvPr>
            <p:cNvCxnSpPr/>
            <p:nvPr/>
          </p:nvCxnSpPr>
          <p:spPr>
            <a:xfrm>
              <a:off x="179006" y="6163362"/>
              <a:ext cx="11833988" cy="0"/>
            </a:xfrm>
            <a:prstGeom prst="line">
              <a:avLst/>
            </a:prstGeom>
            <a:ln>
              <a:solidFill>
                <a:srgbClr val="0F417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56352" y="2132294"/>
            <a:ext cx="10262212" cy="139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Reproducibility: </a:t>
            </a:r>
            <a:r>
              <a:rPr lang="en-US" sz="32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Ability to recompute results given the same data set and the analysis pipeline.</a:t>
            </a:r>
            <a:endParaRPr lang="en-US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556352" y="3958225"/>
            <a:ext cx="10262212" cy="198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Replicability: </a:t>
            </a:r>
            <a:r>
              <a:rPr lang="en-US" sz="32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The chance that an independent experiment on the same question produces a consistent result.</a:t>
            </a:r>
            <a:endParaRPr lang="en-US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964894" y="6021169"/>
            <a:ext cx="1026221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u="none" strike="noStrike" cap="none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Beware: Definitions may be flipped depending on who is talking!</a:t>
            </a:r>
            <a:endParaRPr sz="2400" b="1" dirty="0">
              <a:solidFill>
                <a:srgbClr val="C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Core Definitions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0E61E0-870A-EEDB-F7BA-42BA64F8E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456" y="279404"/>
            <a:ext cx="10269644" cy="629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6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938212" y="2805133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Verify that results are correct and generalizable.</a:t>
            </a: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38212" y="3948732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Allow others to build off earlier work.</a:t>
            </a: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38212" y="5023495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Enable repurposing of materials and methods.</a:t>
            </a: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6" name="Google Shape;106;p15" descr="image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288" y="2841247"/>
            <a:ext cx="397984" cy="48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288" y="3984846"/>
            <a:ext cx="460824" cy="48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288" y="5059609"/>
            <a:ext cx="460824" cy="48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Why These Principles Matter?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8BC55-2FA9-CA04-B181-9E3BBBE2B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704226" cy="5257800"/>
          </a:xfrm>
        </p:spPr>
        <p:txBody>
          <a:bodyPr>
            <a:normAutofit/>
          </a:bodyPr>
          <a:lstStyle/>
          <a:p>
            <a:pPr marL="628650" indent="-51435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download data from another lab, following their methods, you try to regenerate their results.</a:t>
            </a:r>
          </a:p>
          <a:p>
            <a:pPr marL="628650" indent="-51435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rerun the mouse model that you ran in a previous paper but use a different strain.</a:t>
            </a:r>
          </a:p>
          <a:p>
            <a:pPr marL="628650" indent="-51435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Someone performs your study using a cohort of subjects in Korea.</a:t>
            </a:r>
          </a:p>
          <a:p>
            <a:pPr marL="628650" indent="-51435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colleague asks for your raw data and any scripts you may have to repeat your earlier analysis.</a:t>
            </a:r>
          </a:p>
          <a:p>
            <a:endParaRPr lang="en-US" dirty="0"/>
          </a:p>
        </p:txBody>
      </p:sp>
      <p:sp>
        <p:nvSpPr>
          <p:cNvPr id="4" name="Google Shape;109;p15">
            <a:extLst>
              <a:ext uri="{FF2B5EF4-FFF2-40B4-BE49-F238E27FC236}">
                <a16:creationId xmlns:a16="http://schemas.microsoft.com/office/drawing/2014/main" id="{10D91AB7-7AC3-B68E-62BF-F4CDB812D78F}"/>
              </a:ext>
            </a:extLst>
          </p:cNvPr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chemeClr val="bg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Pop quiz: Reproducibility or Replicability?</a:t>
            </a:r>
            <a:endParaRPr dirty="0">
              <a:solidFill>
                <a:schemeClr val="bg2">
                  <a:lumMod val="7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Google Shape;110;p15">
            <a:extLst>
              <a:ext uri="{FF2B5EF4-FFF2-40B4-BE49-F238E27FC236}">
                <a16:creationId xmlns:a16="http://schemas.microsoft.com/office/drawing/2014/main" id="{721F94EF-A564-B805-089A-37EA1FE2A474}"/>
              </a:ext>
            </a:extLst>
          </p:cNvPr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430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030BEF-9C6B-0C3F-CEBB-46E671F66F4E}"/>
              </a:ext>
            </a:extLst>
          </p:cNvPr>
          <p:cNvGrpSpPr/>
          <p:nvPr/>
        </p:nvGrpSpPr>
        <p:grpSpPr>
          <a:xfrm>
            <a:off x="571500" y="2314575"/>
            <a:ext cx="5436393" cy="1541776"/>
            <a:chOff x="571500" y="2314575"/>
            <a:chExt cx="5436393" cy="1541776"/>
          </a:xfrm>
        </p:grpSpPr>
        <p:pic>
          <p:nvPicPr>
            <p:cNvPr id="115" name="Google Shape;115;p1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314575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6"/>
            <p:cNvSpPr txBox="1"/>
            <p:nvPr/>
          </p:nvSpPr>
          <p:spPr>
            <a:xfrm>
              <a:off x="857250" y="2342840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Data &amp; Methods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857250" y="2748355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334155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Data not public, incomplete methods, or "rabbit holes."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8E625D7-3FC7-8834-D18A-B40379C42371}"/>
              </a:ext>
            </a:extLst>
          </p:cNvPr>
          <p:cNvGrpSpPr/>
          <p:nvPr/>
        </p:nvGrpSpPr>
        <p:grpSpPr>
          <a:xfrm>
            <a:off x="6191250" y="2314575"/>
            <a:ext cx="5436393" cy="1541776"/>
            <a:chOff x="6191250" y="2314575"/>
            <a:chExt cx="5436393" cy="1541776"/>
          </a:xfrm>
        </p:grpSpPr>
        <p:pic>
          <p:nvPicPr>
            <p:cNvPr id="116" name="Google Shape;116;p1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91250" y="2314575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6"/>
            <p:cNvSpPr txBox="1"/>
            <p:nvPr/>
          </p:nvSpPr>
          <p:spPr>
            <a:xfrm>
              <a:off x="6477000" y="2357830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Technical Rot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6477000" y="2748355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334155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Operating system changes, URL rot, or software evolution.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BDC6823-337F-37F6-A6D1-A6C67FBB8EC6}"/>
              </a:ext>
            </a:extLst>
          </p:cNvPr>
          <p:cNvGrpSpPr/>
          <p:nvPr/>
        </p:nvGrpSpPr>
        <p:grpSpPr>
          <a:xfrm>
            <a:off x="571500" y="4463478"/>
            <a:ext cx="5436393" cy="1528501"/>
            <a:chOff x="571500" y="3998785"/>
            <a:chExt cx="5436393" cy="1528501"/>
          </a:xfrm>
        </p:grpSpPr>
        <p:pic>
          <p:nvPicPr>
            <p:cNvPr id="117" name="Google Shape;117;p1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4000500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6"/>
            <p:cNvSpPr txBox="1"/>
            <p:nvPr/>
          </p:nvSpPr>
          <p:spPr>
            <a:xfrm>
              <a:off x="857250" y="3998785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Software Issues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857250" y="4419290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334155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Availability of software or "Custom Scripts" that aren't shared.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023034D-3B1B-ECAE-F990-5B526BDE970C}"/>
              </a:ext>
            </a:extLst>
          </p:cNvPr>
          <p:cNvGrpSpPr/>
          <p:nvPr/>
        </p:nvGrpSpPr>
        <p:grpSpPr>
          <a:xfrm>
            <a:off x="6191250" y="4465193"/>
            <a:ext cx="5436393" cy="1541776"/>
            <a:chOff x="6191250" y="4000500"/>
            <a:chExt cx="5436393" cy="1541776"/>
          </a:xfrm>
        </p:grpSpPr>
        <p:pic>
          <p:nvPicPr>
            <p:cNvPr id="118" name="Google Shape;118;p1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91250" y="4000500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6"/>
            <p:cNvSpPr txBox="1"/>
            <p:nvPr/>
          </p:nvSpPr>
          <p:spPr>
            <a:xfrm>
              <a:off x="6477000" y="4028765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Missing Details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6477000" y="4434280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334155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Protocols without enough detail or missing random seeds.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Threats to </a:t>
            </a:r>
            <a:r>
              <a:rPr lang="en-US" sz="3600" b="1" i="0" u="sng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Reproducibility</a:t>
            </a:r>
            <a:endParaRPr u="sng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9A752BE-A2AB-4A7F-979A-DD76928E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0878794-AC15-B7EB-DC1C-531FC535FA35}"/>
              </a:ext>
            </a:extLst>
          </p:cNvPr>
          <p:cNvGrpSpPr/>
          <p:nvPr/>
        </p:nvGrpSpPr>
        <p:grpSpPr>
          <a:xfrm>
            <a:off x="571500" y="2314575"/>
            <a:ext cx="5436393" cy="1541776"/>
            <a:chOff x="571500" y="2314575"/>
            <a:chExt cx="5436393" cy="1541776"/>
          </a:xfrm>
        </p:grpSpPr>
        <p:pic>
          <p:nvPicPr>
            <p:cNvPr id="115" name="Google Shape;115;p16" descr="image.png">
              <a:extLst>
                <a:ext uri="{FF2B5EF4-FFF2-40B4-BE49-F238E27FC236}">
                  <a16:creationId xmlns:a16="http://schemas.microsoft.com/office/drawing/2014/main" id="{8EDC884F-754F-97E1-B056-4688442DE9A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314575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6">
              <a:extLst>
                <a:ext uri="{FF2B5EF4-FFF2-40B4-BE49-F238E27FC236}">
                  <a16:creationId xmlns:a16="http://schemas.microsoft.com/office/drawing/2014/main" id="{D30D3597-3811-7D2E-570A-9C6C9F1D458B}"/>
                </a:ext>
              </a:extLst>
            </p:cNvPr>
            <p:cNvSpPr txBox="1"/>
            <p:nvPr/>
          </p:nvSpPr>
          <p:spPr>
            <a:xfrm>
              <a:off x="857250" y="2342840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Experimental Design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0" name="Google Shape;120;p16">
              <a:extLst>
                <a:ext uri="{FF2B5EF4-FFF2-40B4-BE49-F238E27FC236}">
                  <a16:creationId xmlns:a16="http://schemas.microsoft.com/office/drawing/2014/main" id="{4A73A1B8-48C5-E9AD-1D82-7DE28FEBAE45}"/>
                </a:ext>
              </a:extLst>
            </p:cNvPr>
            <p:cNvSpPr txBox="1"/>
            <p:nvPr/>
          </p:nvSpPr>
          <p:spPr>
            <a:xfrm>
              <a:off x="857250" y="2748355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240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Poor design, overfitting, or selection bias.</a:t>
              </a:r>
              <a:endParaRPr lang="en-US" sz="20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3BBBE4-9C9B-39B9-60C9-594E9A0819F4}"/>
              </a:ext>
            </a:extLst>
          </p:cNvPr>
          <p:cNvGrpSpPr/>
          <p:nvPr/>
        </p:nvGrpSpPr>
        <p:grpSpPr>
          <a:xfrm>
            <a:off x="6191250" y="2314575"/>
            <a:ext cx="5436393" cy="1541776"/>
            <a:chOff x="6191250" y="2314575"/>
            <a:chExt cx="5436393" cy="1541776"/>
          </a:xfrm>
        </p:grpSpPr>
        <p:pic>
          <p:nvPicPr>
            <p:cNvPr id="116" name="Google Shape;116;p16" descr="image.png">
              <a:extLst>
                <a:ext uri="{FF2B5EF4-FFF2-40B4-BE49-F238E27FC236}">
                  <a16:creationId xmlns:a16="http://schemas.microsoft.com/office/drawing/2014/main" id="{0C88214C-8AF1-1549-28A0-6C4A92DD009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91250" y="2314575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6">
              <a:extLst>
                <a:ext uri="{FF2B5EF4-FFF2-40B4-BE49-F238E27FC236}">
                  <a16:creationId xmlns:a16="http://schemas.microsoft.com/office/drawing/2014/main" id="{821393DE-3EE2-0566-C74D-A2A0D5EC2C93}"/>
                </a:ext>
              </a:extLst>
            </p:cNvPr>
            <p:cNvSpPr txBox="1"/>
            <p:nvPr/>
          </p:nvSpPr>
          <p:spPr>
            <a:xfrm>
              <a:off x="6477000" y="2357830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Biological variation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2" name="Google Shape;122;p16">
              <a:extLst>
                <a:ext uri="{FF2B5EF4-FFF2-40B4-BE49-F238E27FC236}">
                  <a16:creationId xmlns:a16="http://schemas.microsoft.com/office/drawing/2014/main" id="{4DB4E739-612C-9F39-0046-E29C688B55D6}"/>
                </a:ext>
              </a:extLst>
            </p:cNvPr>
            <p:cNvSpPr txBox="1"/>
            <p:nvPr/>
          </p:nvSpPr>
          <p:spPr>
            <a:xfrm>
              <a:off x="6477000" y="2748355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240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Sex, age, genotype, or reagent differences.</a:t>
              </a:r>
              <a:endParaRPr lang="en-US" sz="20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454659B-C281-C7E8-62F6-71B7B15B6431}"/>
              </a:ext>
            </a:extLst>
          </p:cNvPr>
          <p:cNvGrpSpPr/>
          <p:nvPr/>
        </p:nvGrpSpPr>
        <p:grpSpPr>
          <a:xfrm>
            <a:off x="571500" y="4463478"/>
            <a:ext cx="5436393" cy="1528501"/>
            <a:chOff x="571500" y="3998785"/>
            <a:chExt cx="5436393" cy="1528501"/>
          </a:xfrm>
        </p:grpSpPr>
        <p:pic>
          <p:nvPicPr>
            <p:cNvPr id="117" name="Google Shape;117;p16" descr="image.png">
              <a:extLst>
                <a:ext uri="{FF2B5EF4-FFF2-40B4-BE49-F238E27FC236}">
                  <a16:creationId xmlns:a16="http://schemas.microsoft.com/office/drawing/2014/main" id="{2EF4ACC9-BDC1-F6D7-3927-880046A4F88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4000500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6">
              <a:extLst>
                <a:ext uri="{FF2B5EF4-FFF2-40B4-BE49-F238E27FC236}">
                  <a16:creationId xmlns:a16="http://schemas.microsoft.com/office/drawing/2014/main" id="{0A10CE03-24F8-A0D9-F18A-C8294C6ACC1C}"/>
                </a:ext>
              </a:extLst>
            </p:cNvPr>
            <p:cNvSpPr txBox="1"/>
            <p:nvPr/>
          </p:nvSpPr>
          <p:spPr>
            <a:xfrm>
              <a:off x="857250" y="3998785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Environment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4" name="Google Shape;124;p16">
              <a:extLst>
                <a:ext uri="{FF2B5EF4-FFF2-40B4-BE49-F238E27FC236}">
                  <a16:creationId xmlns:a16="http://schemas.microsoft.com/office/drawing/2014/main" id="{8BF29681-5466-4007-D934-2023B7EA6AF5}"/>
                </a:ext>
              </a:extLst>
            </p:cNvPr>
            <p:cNvSpPr txBox="1"/>
            <p:nvPr/>
          </p:nvSpPr>
          <p:spPr>
            <a:xfrm>
              <a:off x="857250" y="4419290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240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Storage conditions or confounding variables.</a:t>
              </a:r>
              <a:endParaRPr lang="en-US" sz="2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C9FBA21-5D1D-F423-8AFF-D7426606D124}"/>
              </a:ext>
            </a:extLst>
          </p:cNvPr>
          <p:cNvGrpSpPr/>
          <p:nvPr/>
        </p:nvGrpSpPr>
        <p:grpSpPr>
          <a:xfrm>
            <a:off x="6191250" y="4465193"/>
            <a:ext cx="5436393" cy="1496806"/>
            <a:chOff x="6191250" y="4000500"/>
            <a:chExt cx="5436393" cy="1496806"/>
          </a:xfrm>
        </p:grpSpPr>
        <p:pic>
          <p:nvPicPr>
            <p:cNvPr id="118" name="Google Shape;118;p16" descr="image.png">
              <a:extLst>
                <a:ext uri="{FF2B5EF4-FFF2-40B4-BE49-F238E27FC236}">
                  <a16:creationId xmlns:a16="http://schemas.microsoft.com/office/drawing/2014/main" id="{7C5F9CF3-FEC5-7024-94DC-C1E894E5F0F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91250" y="4000500"/>
              <a:ext cx="5429250" cy="149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6">
              <a:extLst>
                <a:ext uri="{FF2B5EF4-FFF2-40B4-BE49-F238E27FC236}">
                  <a16:creationId xmlns:a16="http://schemas.microsoft.com/office/drawing/2014/main" id="{2D94C3EA-2E25-C226-3B44-54C29293FC04}"/>
                </a:ext>
              </a:extLst>
            </p:cNvPr>
            <p:cNvSpPr txBox="1"/>
            <p:nvPr/>
          </p:nvSpPr>
          <p:spPr>
            <a:xfrm>
              <a:off x="6477000" y="4028765"/>
              <a:ext cx="51506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336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DM Sans"/>
                </a:rPr>
                <a:t>Integrity</a:t>
              </a:r>
              <a:endParaRPr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3A033A45-4577-83FA-4572-1CC1ADD4825E}"/>
                </a:ext>
              </a:extLst>
            </p:cNvPr>
            <p:cNvSpPr txBox="1"/>
            <p:nvPr/>
          </p:nvSpPr>
          <p:spPr>
            <a:xfrm>
              <a:off x="6477000" y="4389310"/>
              <a:ext cx="490537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240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Sloppiness or scientific misconduct.</a:t>
              </a:r>
              <a:endParaRPr lang="en-US" sz="2000" dirty="0"/>
            </a:p>
          </p:txBody>
        </p:sp>
      </p:grpSp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4EDAA66A-70F9-4174-E8F9-0EA18EA36C86}"/>
              </a:ext>
            </a:extLst>
          </p:cNvPr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Threats to </a:t>
            </a:r>
            <a:r>
              <a:rPr lang="en-US" sz="3600" b="1" i="0" u="sng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Replicability</a:t>
            </a:r>
            <a:endParaRPr u="sng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8" name="Google Shape;128;p16">
            <a:extLst>
              <a:ext uri="{FF2B5EF4-FFF2-40B4-BE49-F238E27FC236}">
                <a16:creationId xmlns:a16="http://schemas.microsoft.com/office/drawing/2014/main" id="{D02358DE-3E19-B1C0-8673-CB98A91089B8}"/>
              </a:ext>
            </a:extLst>
          </p:cNvPr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5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1780460" y="571500"/>
            <a:ext cx="863107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The Role of Version Control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116374" y="3000260"/>
            <a:ext cx="99592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Managing the "Code" and "Methods" pillars of reproducibility</a:t>
            </a:r>
            <a:endParaRPr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524498" y="3813557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/>
        </p:nvSpPr>
        <p:spPr>
          <a:xfrm>
            <a:off x="571500" y="2414587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Which one produced your Figure 1?</a:t>
            </a:r>
            <a:endParaRPr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5621414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Manual tracking is prone to error and difficult to audit</a:t>
            </a: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The Enemy: "Filename Versioning"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2A89B-D812-7A60-9B36-0EE22D2BC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8" t="18415" r="70519" b="16851"/>
          <a:stretch>
            <a:fillRect/>
          </a:stretch>
        </p:blipFill>
        <p:spPr>
          <a:xfrm>
            <a:off x="2991306" y="3328631"/>
            <a:ext cx="6209388" cy="21924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598E26-5753-EA5F-6D9B-206A352F5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1825625"/>
            <a:ext cx="10918902" cy="4351338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Practice of </a:t>
            </a:r>
            <a:r>
              <a:rPr lang="en-US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controlling, organizing,</a:t>
            </a:r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</a:t>
            </a:r>
            <a:r>
              <a:rPr lang="en-US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tracking</a:t>
            </a:r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different versions of computer files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Allows you to revert to specific versions later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for software development, but useful for any evolving digital work (manuscripts, data, etc.)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Ctrl+Z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” on steroids, with a complete history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7" name="Picture 6" descr="A black arrow pointing to the left&#10;&#10;AI-generated content may be incorrect.">
            <a:extLst>
              <a:ext uri="{FF2B5EF4-FFF2-40B4-BE49-F238E27FC236}">
                <a16:creationId xmlns:a16="http://schemas.microsoft.com/office/drawing/2014/main" id="{7CA7224B-4AE2-2455-99FE-9D8FAA383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939" y="5203616"/>
            <a:ext cx="780705" cy="973347"/>
          </a:xfrm>
          <a:prstGeom prst="rect">
            <a:avLst/>
          </a:prstGeom>
        </p:spPr>
      </p:pic>
      <p:sp>
        <p:nvSpPr>
          <p:cNvPr id="9" name="Google Shape;109;p15">
            <a:extLst>
              <a:ext uri="{FF2B5EF4-FFF2-40B4-BE49-F238E27FC236}">
                <a16:creationId xmlns:a16="http://schemas.microsoft.com/office/drawing/2014/main" id="{2DBD8039-FDE4-B474-19D2-58E61F202D94}"/>
              </a:ext>
            </a:extLst>
          </p:cNvPr>
          <p:cNvSpPr txBox="1"/>
          <p:nvPr/>
        </p:nvSpPr>
        <p:spPr>
          <a:xfrm>
            <a:off x="762001" y="571500"/>
            <a:ext cx="90525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What is Version Control?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Google Shape;110;p15">
            <a:extLst>
              <a:ext uri="{FF2B5EF4-FFF2-40B4-BE49-F238E27FC236}">
                <a16:creationId xmlns:a16="http://schemas.microsoft.com/office/drawing/2014/main" id="{A937E3AE-0192-3E86-FC32-FDA2DFC44EE3}"/>
              </a:ext>
            </a:extLst>
          </p:cNvPr>
          <p:cNvSpPr/>
          <p:nvPr/>
        </p:nvSpPr>
        <p:spPr>
          <a:xfrm>
            <a:off x="571500" y="571500"/>
            <a:ext cx="60502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009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B15E61-8C5C-870C-42BE-F8C37D08F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410128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en-US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Developed in 2005 by Linus Torvalds, the creator of Linux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Widely used in the industry and academia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source and free!</a:t>
            </a:r>
          </a:p>
        </p:txBody>
      </p:sp>
      <p:sp>
        <p:nvSpPr>
          <p:cNvPr id="3" name="Google Shape;109;p15">
            <a:extLst>
              <a:ext uri="{FF2B5EF4-FFF2-40B4-BE49-F238E27FC236}">
                <a16:creationId xmlns:a16="http://schemas.microsoft.com/office/drawing/2014/main" id="{DB0ED912-B511-D6B3-EED0-79519859E6D3}"/>
              </a:ext>
            </a:extLst>
          </p:cNvPr>
          <p:cNvSpPr txBox="1"/>
          <p:nvPr/>
        </p:nvSpPr>
        <p:spPr>
          <a:xfrm>
            <a:off x="762001" y="571500"/>
            <a:ext cx="90525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Version Control with Git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Google Shape;110;p15">
            <a:extLst>
              <a:ext uri="{FF2B5EF4-FFF2-40B4-BE49-F238E27FC236}">
                <a16:creationId xmlns:a16="http://schemas.microsoft.com/office/drawing/2014/main" id="{71629C4A-FB68-7AD4-1B88-3CF53786502E}"/>
              </a:ext>
            </a:extLst>
          </p:cNvPr>
          <p:cNvSpPr/>
          <p:nvPr/>
        </p:nvSpPr>
        <p:spPr>
          <a:xfrm>
            <a:off x="571500" y="571500"/>
            <a:ext cx="60502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838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71500" y="2667000"/>
            <a:ext cx="55006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Poppins" pitchFamily="2" charset="77"/>
                <a:ea typeface="DM Sans"/>
                <a:cs typeface="Poppins" pitchFamily="2" charset="77"/>
                <a:sym typeface="DM Sans"/>
              </a:rPr>
              <a:t>What is Git?</a:t>
            </a:r>
            <a:endParaRPr sz="18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0"/>
            <a:ext cx="16668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3429000"/>
            <a:ext cx="1104900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Free and open-source 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distributed version control system</a:t>
            </a:r>
            <a:endParaRPr lang="en-US" sz="2800" b="0" i="0" u="none" strike="noStrike" cap="none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DM San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Tracks every character change in your analysis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Allows you to revert to any working version instantly.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Provides a permanent record of your analysis evolution.</a:t>
            </a:r>
            <a:endParaRPr lang="en-US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Git: A Research Time Machine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2602529-DD30-43F8-E0E4-13297C44F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676466" cy="5257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100000"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Working Directory: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Local files you see and edit</a:t>
            </a:r>
          </a:p>
          <a:p>
            <a:pPr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100000"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Staging Area: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temporary area to prepare changes for the next commit</a:t>
            </a:r>
          </a:p>
          <a:p>
            <a:pPr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100000"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Repository (.git directory):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The hidden folder where Git stores all the history and metadata for your project </a:t>
            </a:r>
          </a:p>
          <a:p>
            <a:pPr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100000"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Remote Repository: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remote repository where you can push your committed data for sharing, collaborating, showcasing skills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Google Shape;176;p20">
            <a:extLst>
              <a:ext uri="{FF2B5EF4-FFF2-40B4-BE49-F238E27FC236}">
                <a16:creationId xmlns:a16="http://schemas.microsoft.com/office/drawing/2014/main" id="{C29B6715-484C-210A-A73F-4DB818545A02}"/>
              </a:ext>
            </a:extLst>
          </p:cNvPr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How does Git do this?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Google Shape;177;p20">
            <a:extLst>
              <a:ext uri="{FF2B5EF4-FFF2-40B4-BE49-F238E27FC236}">
                <a16:creationId xmlns:a16="http://schemas.microsoft.com/office/drawing/2014/main" id="{E207392C-87E5-DEE0-38A3-716B353D6B1C}"/>
              </a:ext>
            </a:extLst>
          </p:cNvPr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549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6;p20">
            <a:extLst>
              <a:ext uri="{FF2B5EF4-FFF2-40B4-BE49-F238E27FC236}">
                <a16:creationId xmlns:a16="http://schemas.microsoft.com/office/drawing/2014/main" id="{F160C9C5-9602-65B6-6F11-D34C8AA2673F}"/>
              </a:ext>
            </a:extLst>
          </p:cNvPr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How do these structures interact?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Google Shape;177;p20">
            <a:extLst>
              <a:ext uri="{FF2B5EF4-FFF2-40B4-BE49-F238E27FC236}">
                <a16:creationId xmlns:a16="http://schemas.microsoft.com/office/drawing/2014/main" id="{0D1D44C7-4A8F-F122-994F-410FB09D3084}"/>
              </a:ext>
            </a:extLst>
          </p:cNvPr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EAF895-1341-0B0C-E558-F441257C6426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0" y="1458019"/>
            <a:ext cx="9486609" cy="5162914"/>
            <a:chOff x="1223323" y="1678153"/>
            <a:chExt cx="8823201" cy="4801867"/>
          </a:xfrm>
        </p:grpSpPr>
        <p:pic>
          <p:nvPicPr>
            <p:cNvPr id="5" name="Picture 4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0D52F6BE-0ECC-76BD-3907-A1E1CA8F3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298"/>
            <a:stretch>
              <a:fillRect/>
            </a:stretch>
          </p:blipFill>
          <p:spPr>
            <a:xfrm>
              <a:off x="1223323" y="1678153"/>
              <a:ext cx="8823201" cy="480186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D15A33-6F4F-7553-F089-6F45A323E089}"/>
                </a:ext>
              </a:extLst>
            </p:cNvPr>
            <p:cNvSpPr/>
            <p:nvPr/>
          </p:nvSpPr>
          <p:spPr>
            <a:xfrm>
              <a:off x="2941320" y="4095750"/>
              <a:ext cx="482600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7D03B4-8CCC-C165-272D-7555B2D3E77D}"/>
                </a:ext>
              </a:extLst>
            </p:cNvPr>
            <p:cNvSpPr/>
            <p:nvPr/>
          </p:nvSpPr>
          <p:spPr>
            <a:xfrm>
              <a:off x="2865120" y="5090947"/>
              <a:ext cx="482600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1C7623-CA2B-6FAA-C564-3FB49BB9DF1D}"/>
                </a:ext>
              </a:extLst>
            </p:cNvPr>
            <p:cNvSpPr/>
            <p:nvPr/>
          </p:nvSpPr>
          <p:spPr>
            <a:xfrm>
              <a:off x="4659317" y="4095750"/>
              <a:ext cx="482600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CFD9EC-9945-41ED-0049-D7619807BB98}"/>
                </a:ext>
              </a:extLst>
            </p:cNvPr>
            <p:cNvSpPr/>
            <p:nvPr/>
          </p:nvSpPr>
          <p:spPr>
            <a:xfrm>
              <a:off x="6932617" y="4095750"/>
              <a:ext cx="482600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48AF12-54EC-FF7F-7354-E1A26962C95D}"/>
                </a:ext>
              </a:extLst>
            </p:cNvPr>
            <p:cNvSpPr/>
            <p:nvPr/>
          </p:nvSpPr>
          <p:spPr>
            <a:xfrm>
              <a:off x="7034217" y="5090947"/>
              <a:ext cx="482600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457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70" y="2314575"/>
            <a:ext cx="5496980" cy="164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857250" y="2468035"/>
            <a:ext cx="51506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33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Snapshots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857250" y="2858560"/>
            <a:ext cx="4905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Captures the state of your entire project at once.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1092" y="2314575"/>
            <a:ext cx="5496980" cy="164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6784572" y="2468035"/>
            <a:ext cx="51506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33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Attribution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784572" y="2858560"/>
            <a:ext cx="4905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Identifies who made which change </a:t>
            </a:r>
            <a:b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</a:b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itchFamily="2" charset="2"/>
              </a:rPr>
              <a:t> 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perfect for collaborations.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4" name="Google Shape;18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70" y="4454643"/>
            <a:ext cx="5496980" cy="164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57250" y="4608103"/>
            <a:ext cx="51506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33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Documentation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857250" y="4998628"/>
            <a:ext cx="4905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Commit messages explain the 'why' behind each adjustment.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5" name="Google Shape;18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3949" y="4454643"/>
            <a:ext cx="5496980" cy="164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6777429" y="4608103"/>
            <a:ext cx="51506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336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Integrity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777429" y="4998628"/>
            <a:ext cx="4905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Ensures history hasn't been tampered with or corrupted.</a:t>
            </a:r>
            <a:endParaRPr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Power of the "Commit"</a:t>
            </a:r>
            <a:endParaRPr dirty="0"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334433" y="2262716"/>
            <a:ext cx="10621433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Make raw data and scripts accessible.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Document your software environment.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Use Version Control to track every step of the analysis pipeline.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Write meaningful commit messages for your "future self” and collaborators.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Reproducibility Best Practices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45F65-F86B-E077-7256-DF2257491250}"/>
              </a:ext>
            </a:extLst>
          </p:cNvPr>
          <p:cNvSpPr txBox="1"/>
          <p:nvPr/>
        </p:nvSpPr>
        <p:spPr>
          <a:xfrm>
            <a:off x="0" y="1427467"/>
            <a:ext cx="8516552" cy="4783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DM Sans" pitchFamily="2" charset="77"/>
              </a:rPr>
              <a:t>Open Google Cloud instance.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DM Sans" pitchFamily="2" charset="77"/>
              </a:rPr>
              <a:t>Make sure you’re in your home directory.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DM Sans" pitchFamily="2" charset="77"/>
              </a:rPr>
              <a:t>Open Git panel &amp; Click ”Clone a Repository”.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DM Sans" pitchFamily="2" charset="77"/>
              </a:rPr>
              <a:t>Enter the below URL &amp; click ”Clone”: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endParaRPr lang="en-US" sz="3200" dirty="0">
              <a:solidFill>
                <a:schemeClr val="accent1">
                  <a:lumMod val="50000"/>
                </a:schemeClr>
              </a:solidFill>
              <a:latin typeface="DM Sans" pitchFamily="2" charset="77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endParaRPr lang="en-US" sz="3200" dirty="0">
              <a:solidFill>
                <a:schemeClr val="accent1">
                  <a:lumMod val="50000"/>
                </a:schemeClr>
              </a:solidFill>
              <a:latin typeface="DM Sans" pitchFamily="2" charset="77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DM Sans" pitchFamily="2" charset="77"/>
              </a:rPr>
              <a:t>Open Lesson 1 &amp; Get started!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3C3F3-CA8E-F518-88F9-F8ED70F013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26" b="22404"/>
          <a:stretch>
            <a:fillRect/>
          </a:stretch>
        </p:blipFill>
        <p:spPr>
          <a:xfrm>
            <a:off x="8568266" y="2027766"/>
            <a:ext cx="3543443" cy="18636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5684B0-09FB-9401-0754-FFD345C0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860"/>
          <a:stretch>
            <a:fillRect/>
          </a:stretch>
        </p:blipFill>
        <p:spPr>
          <a:xfrm>
            <a:off x="8568267" y="164099"/>
            <a:ext cx="3543443" cy="18636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223;p23">
            <a:extLst>
              <a:ext uri="{FF2B5EF4-FFF2-40B4-BE49-F238E27FC236}">
                <a16:creationId xmlns:a16="http://schemas.microsoft.com/office/drawing/2014/main" id="{B9A2F176-2A0B-D152-956A-17C51D5CF291}"/>
              </a:ext>
            </a:extLst>
          </p:cNvPr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3366"/>
                </a:solidFill>
                <a:latin typeface="Poppins" pitchFamily="2" charset="77"/>
                <a:ea typeface="Merriweather"/>
                <a:cs typeface="Poppins" pitchFamily="2" charset="77"/>
                <a:sym typeface="Merriweather"/>
              </a:rPr>
              <a:t>Today: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Google Shape;224;p23">
            <a:extLst>
              <a:ext uri="{FF2B5EF4-FFF2-40B4-BE49-F238E27FC236}">
                <a16:creationId xmlns:a16="http://schemas.microsoft.com/office/drawing/2014/main" id="{3BA1F8BA-0E7B-4C14-E4D0-5190236F9563}"/>
              </a:ext>
            </a:extLst>
          </p:cNvPr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2D0533-60B6-97BD-4D22-9DD2CA117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526" y="5198781"/>
            <a:ext cx="3591474" cy="16592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3B467E-A09F-0271-36F0-CBB258A180BD}"/>
              </a:ext>
            </a:extLst>
          </p:cNvPr>
          <p:cNvSpPr txBox="1"/>
          <p:nvPr/>
        </p:nvSpPr>
        <p:spPr>
          <a:xfrm>
            <a:off x="-379547" y="4631836"/>
            <a:ext cx="12491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DM Sans" pitchFamily="2" charset="77"/>
              </a:rPr>
              <a:t>https://</a:t>
            </a:r>
            <a:r>
              <a:rPr lang="en-US" sz="2800" b="1" dirty="0" err="1">
                <a:solidFill>
                  <a:srgbClr val="C00000"/>
                </a:solidFill>
                <a:latin typeface="DM Sans" pitchFamily="2" charset="77"/>
              </a:rPr>
              <a:t>ak-inbre-dsc</a:t>
            </a:r>
            <a:r>
              <a:rPr lang="en-US" sz="2800" b="1" dirty="0">
                <a:solidFill>
                  <a:srgbClr val="C00000"/>
                </a:solidFill>
                <a:latin typeface="DM Sans" pitchFamily="2" charset="77"/>
              </a:rPr>
              <a:t>/dsc_workshop_2026/notebooks/Git</a:t>
            </a:r>
          </a:p>
        </p:txBody>
      </p:sp>
    </p:spTree>
    <p:extLst>
      <p:ext uri="{BB962C8B-B14F-4D97-AF65-F5344CB8AC3E}">
        <p14:creationId xmlns:p14="http://schemas.microsoft.com/office/powerpoint/2010/main" val="249670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695</Words>
  <Application>Microsoft Macintosh PowerPoint</Application>
  <PresentationFormat>Widescreen</PresentationFormat>
  <Paragraphs>86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Aptos</vt:lpstr>
      <vt:lpstr>Calibri</vt:lpstr>
      <vt:lpstr>Lato</vt:lpstr>
      <vt:lpstr>DM Sans</vt:lpstr>
      <vt:lpstr>Poppins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Kirsten Grond</cp:lastModifiedBy>
  <cp:revision>3</cp:revision>
  <dcterms:modified xsi:type="dcterms:W3CDTF">2026-05-06T18:31:34Z</dcterms:modified>
</cp:coreProperties>
</file>